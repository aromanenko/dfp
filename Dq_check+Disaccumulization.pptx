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4" r:id="rId1"/>
  </p:sldMasterIdLst>
  <p:notesMasterIdLst>
    <p:notesMasterId r:id="rId14"/>
  </p:notesMasterIdLst>
  <p:sldIdLst>
    <p:sldId id="256" r:id="rId2"/>
    <p:sldId id="260" r:id="rId3"/>
    <p:sldId id="349" r:id="rId4"/>
    <p:sldId id="348" r:id="rId5"/>
    <p:sldId id="350" r:id="rId6"/>
    <p:sldId id="351" r:id="rId7"/>
    <p:sldId id="352" r:id="rId8"/>
    <p:sldId id="353" r:id="rId9"/>
    <p:sldId id="355" r:id="rId10"/>
    <p:sldId id="356" r:id="rId11"/>
    <p:sldId id="354" r:id="rId12"/>
    <p:sldId id="357" r:id="rId13"/>
  </p:sldIdLst>
  <p:sldSz cx="9144000" cy="5143500" type="screen16x9"/>
  <p:notesSz cx="6858000" cy="9144000"/>
  <p:embeddedFontLst>
    <p:embeddedFont>
      <p:font typeface="AlphabetSoup Tilt BT" panose="04020905020B06060204" pitchFamily="82" charset="0"/>
      <p:regular r:id="rId15"/>
    </p:embeddedFont>
    <p:embeddedFont>
      <p:font typeface="Crimson Text" panose="020B0604020202020204" charset="0"/>
      <p:regular r:id="rId16"/>
      <p:bold r:id="rId17"/>
      <p:italic r:id="rId18"/>
      <p:boldItalic r:id="rId19"/>
    </p:embeddedFont>
    <p:embeddedFont>
      <p:font typeface="Lato" panose="020F0502020204030203" pitchFamily="34" charset="0"/>
      <p:regular r:id="rId20"/>
      <p:bold r:id="rId21"/>
      <p:italic r:id="rId22"/>
      <p:boldItalic r:id="rId23"/>
    </p:embeddedFont>
    <p:embeddedFont>
      <p:font typeface="Merriweather Light" panose="020F0502020204030204" pitchFamily="2" charset="-52"/>
      <p:regular r:id="rId24"/>
      <p:bold r:id="rId25"/>
      <p:italic r:id="rId26"/>
      <p:boldItalic r:id="rId27"/>
    </p:embeddedFont>
    <p:embeddedFont>
      <p:font typeface="Montserrat" panose="00000500000000000000" pitchFamily="2" charset="-52"/>
      <p:regular r:id="rId28"/>
      <p:bold r:id="rId29"/>
      <p:italic r:id="rId30"/>
      <p:boldItalic r:id="rId31"/>
    </p:embeddedFont>
    <p:embeddedFont>
      <p:font typeface="Vidaloka" panose="020B0604020202020204" charset="0"/>
      <p:regular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F3533"/>
    <a:srgbClr val="4A41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3D160FF-94B8-45FA-BD9D-0CE8BFD0F706}">
  <a:tblStyle styleId="{C3D160FF-94B8-45FA-BD9D-0CE8BFD0F70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9" d="100"/>
          <a:sy n="69" d="100"/>
        </p:scale>
        <p:origin x="120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32" Type="http://schemas.openxmlformats.org/officeDocument/2006/relationships/font" Target="fonts/font18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font" Target="fonts/font14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31" Type="http://schemas.openxmlformats.org/officeDocument/2006/relationships/font" Target="fonts/font1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font" Target="fonts/font13.fntdata"/><Relationship Id="rId30" Type="http://schemas.openxmlformats.org/officeDocument/2006/relationships/font" Target="fonts/font16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gcd8a80d6bc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8" name="Google Shape;538;gcd8a80d6bc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0">
          <a:extLst>
            <a:ext uri="{FF2B5EF4-FFF2-40B4-BE49-F238E27FC236}">
              <a16:creationId xmlns:a16="http://schemas.microsoft.com/office/drawing/2014/main" id="{72C3A3B0-407F-EBF8-23AE-9515058AF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Google Shape;881;gcc7554a049_0_438:notes">
            <a:extLst>
              <a:ext uri="{FF2B5EF4-FFF2-40B4-BE49-F238E27FC236}">
                <a16:creationId xmlns:a16="http://schemas.microsoft.com/office/drawing/2014/main" id="{6EB0063A-D0EF-AE62-B07C-9A05D9D554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2" name="Google Shape;882;gcc7554a049_0_438:notes">
            <a:extLst>
              <a:ext uri="{FF2B5EF4-FFF2-40B4-BE49-F238E27FC236}">
                <a16:creationId xmlns:a16="http://schemas.microsoft.com/office/drawing/2014/main" id="{287A7C98-6ABC-2A11-6704-54415A0E2F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187463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0">
          <a:extLst>
            <a:ext uri="{FF2B5EF4-FFF2-40B4-BE49-F238E27FC236}">
              <a16:creationId xmlns:a16="http://schemas.microsoft.com/office/drawing/2014/main" id="{74007474-9520-142E-DDD4-617D5147C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Google Shape;881;gcc7554a049_0_438:notes">
            <a:extLst>
              <a:ext uri="{FF2B5EF4-FFF2-40B4-BE49-F238E27FC236}">
                <a16:creationId xmlns:a16="http://schemas.microsoft.com/office/drawing/2014/main" id="{5003A52E-8DC9-7101-477F-E18665A2B0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2" name="Google Shape;882;gcc7554a049_0_438:notes">
            <a:extLst>
              <a:ext uri="{FF2B5EF4-FFF2-40B4-BE49-F238E27FC236}">
                <a16:creationId xmlns:a16="http://schemas.microsoft.com/office/drawing/2014/main" id="{B77C0344-481E-2B4E-3DED-46D3D9D19D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7724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0">
          <a:extLst>
            <a:ext uri="{FF2B5EF4-FFF2-40B4-BE49-F238E27FC236}">
              <a16:creationId xmlns:a16="http://schemas.microsoft.com/office/drawing/2014/main" id="{3B73A325-2AE2-C888-D66E-4576E6862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Google Shape;881;gcc7554a049_0_438:notes">
            <a:extLst>
              <a:ext uri="{FF2B5EF4-FFF2-40B4-BE49-F238E27FC236}">
                <a16:creationId xmlns:a16="http://schemas.microsoft.com/office/drawing/2014/main" id="{494AA265-6019-4089-6588-A8DD15C77D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2" name="Google Shape;882;gcc7554a049_0_438:notes">
            <a:extLst>
              <a:ext uri="{FF2B5EF4-FFF2-40B4-BE49-F238E27FC236}">
                <a16:creationId xmlns:a16="http://schemas.microsoft.com/office/drawing/2014/main" id="{AD1B3FA1-913E-4E72-272E-55BAB7F5F6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425099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">
          <a:extLst>
            <a:ext uri="{FF2B5EF4-FFF2-40B4-BE49-F238E27FC236}">
              <a16:creationId xmlns:a16="http://schemas.microsoft.com/office/drawing/2014/main" id="{2E6403C8-4FD2-1054-B9F5-6743B7F8F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cc7554a049_0_358:notes">
            <a:extLst>
              <a:ext uri="{FF2B5EF4-FFF2-40B4-BE49-F238E27FC236}">
                <a16:creationId xmlns:a16="http://schemas.microsoft.com/office/drawing/2014/main" id="{161F6B3F-C0F6-608C-FF9F-5030BDB3DE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2" name="Google Shape;492;gcc7554a049_0_358:notes">
            <a:extLst>
              <a:ext uri="{FF2B5EF4-FFF2-40B4-BE49-F238E27FC236}">
                <a16:creationId xmlns:a16="http://schemas.microsoft.com/office/drawing/2014/main" id="{731B0F38-D256-D7AC-CEF7-77EACA2709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23131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A61007C7-CF93-6FF7-61FF-38B906BFA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:notes">
            <a:extLst>
              <a:ext uri="{FF2B5EF4-FFF2-40B4-BE49-F238E27FC236}">
                <a16:creationId xmlns:a16="http://schemas.microsoft.com/office/drawing/2014/main" id="{DC35223F-EFB9-FE75-8A48-46FE9FD29A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p:notes">
            <a:extLst>
              <a:ext uri="{FF2B5EF4-FFF2-40B4-BE49-F238E27FC236}">
                <a16:creationId xmlns:a16="http://schemas.microsoft.com/office/drawing/2014/main" id="{848EBD0A-55E8-4730-16A1-83D340DC32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73707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6">
          <a:extLst>
            <a:ext uri="{FF2B5EF4-FFF2-40B4-BE49-F238E27FC236}">
              <a16:creationId xmlns:a16="http://schemas.microsoft.com/office/drawing/2014/main" id="{DDD93A66-E07E-187F-9F2E-23DC9F861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gcd8a80d6bc_0_17:notes">
            <a:extLst>
              <a:ext uri="{FF2B5EF4-FFF2-40B4-BE49-F238E27FC236}">
                <a16:creationId xmlns:a16="http://schemas.microsoft.com/office/drawing/2014/main" id="{A174CC74-947A-242D-09A2-FE9BFCDE9C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8" name="Google Shape;538;gcd8a80d6bc_0_17:notes">
            <a:extLst>
              <a:ext uri="{FF2B5EF4-FFF2-40B4-BE49-F238E27FC236}">
                <a16:creationId xmlns:a16="http://schemas.microsoft.com/office/drawing/2014/main" id="{0ECEF71B-609F-FBB8-0357-179096AA1B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51110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1">
          <a:extLst>
            <a:ext uri="{FF2B5EF4-FFF2-40B4-BE49-F238E27FC236}">
              <a16:creationId xmlns:a16="http://schemas.microsoft.com/office/drawing/2014/main" id="{ED00DF73-C31F-B44D-525D-B3D89FFCD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gcc7554a049_0_374:notes">
            <a:extLst>
              <a:ext uri="{FF2B5EF4-FFF2-40B4-BE49-F238E27FC236}">
                <a16:creationId xmlns:a16="http://schemas.microsoft.com/office/drawing/2014/main" id="{571DCECF-5378-3419-2664-E21B889F3B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3" name="Google Shape;623;gcc7554a049_0_374:notes">
            <a:extLst>
              <a:ext uri="{FF2B5EF4-FFF2-40B4-BE49-F238E27FC236}">
                <a16:creationId xmlns:a16="http://schemas.microsoft.com/office/drawing/2014/main" id="{654BEB2E-E7FF-DCDC-ED4B-FDBBDDB557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930498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0">
          <a:extLst>
            <a:ext uri="{FF2B5EF4-FFF2-40B4-BE49-F238E27FC236}">
              <a16:creationId xmlns:a16="http://schemas.microsoft.com/office/drawing/2014/main" id="{C8D68D80-293D-5C2C-B362-2DA86A2A6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Google Shape;881;gcc7554a049_0_438:notes">
            <a:extLst>
              <a:ext uri="{FF2B5EF4-FFF2-40B4-BE49-F238E27FC236}">
                <a16:creationId xmlns:a16="http://schemas.microsoft.com/office/drawing/2014/main" id="{C364C854-004C-2273-0DD2-A0BF583673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2" name="Google Shape;882;gcc7554a049_0_438:notes">
            <a:extLst>
              <a:ext uri="{FF2B5EF4-FFF2-40B4-BE49-F238E27FC236}">
                <a16:creationId xmlns:a16="http://schemas.microsoft.com/office/drawing/2014/main" id="{34D7EEDA-288D-E610-713A-8E6BEDAAEF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85070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0">
          <a:extLst>
            <a:ext uri="{FF2B5EF4-FFF2-40B4-BE49-F238E27FC236}">
              <a16:creationId xmlns:a16="http://schemas.microsoft.com/office/drawing/2014/main" id="{C01F9E99-835B-D794-045C-B0F25731E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Google Shape;881;gcc7554a049_0_438:notes">
            <a:extLst>
              <a:ext uri="{FF2B5EF4-FFF2-40B4-BE49-F238E27FC236}">
                <a16:creationId xmlns:a16="http://schemas.microsoft.com/office/drawing/2014/main" id="{A33FBD65-38B7-B24A-8238-959F269B05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2" name="Google Shape;882;gcc7554a049_0_438:notes">
            <a:extLst>
              <a:ext uri="{FF2B5EF4-FFF2-40B4-BE49-F238E27FC236}">
                <a16:creationId xmlns:a16="http://schemas.microsoft.com/office/drawing/2014/main" id="{EAAECF28-0A23-6467-25B0-899FE8F6C4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569509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">
          <a:extLst>
            <a:ext uri="{FF2B5EF4-FFF2-40B4-BE49-F238E27FC236}">
              <a16:creationId xmlns:a16="http://schemas.microsoft.com/office/drawing/2014/main" id="{8690E2F3-5B6A-4470-B1F6-D61FC6B4C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cc7554a049_0_358:notes">
            <a:extLst>
              <a:ext uri="{FF2B5EF4-FFF2-40B4-BE49-F238E27FC236}">
                <a16:creationId xmlns:a16="http://schemas.microsoft.com/office/drawing/2014/main" id="{6454D27E-CFB3-6DC4-A7D1-E61A065B25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2" name="Google Shape;492;gcc7554a049_0_358:notes">
            <a:extLst>
              <a:ext uri="{FF2B5EF4-FFF2-40B4-BE49-F238E27FC236}">
                <a16:creationId xmlns:a16="http://schemas.microsoft.com/office/drawing/2014/main" id="{963CA533-8A44-F8F3-E0E2-61A1380BCB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70805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039975" y="1324500"/>
            <a:ext cx="70641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5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040000" y="3377100"/>
            <a:ext cx="7064100" cy="441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" name="Google Shape;12;p2"/>
          <p:cNvCxnSpPr/>
          <p:nvPr/>
        </p:nvCxnSpPr>
        <p:spPr>
          <a:xfrm flipH="1">
            <a:off x="-257975" y="-72550"/>
            <a:ext cx="3047400" cy="1346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" name="Google Shape;13;p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" name="Google Shape;14;p2"/>
          <p:cNvCxnSpPr/>
          <p:nvPr/>
        </p:nvCxnSpPr>
        <p:spPr>
          <a:xfrm flipH="1">
            <a:off x="6467450" y="3935375"/>
            <a:ext cx="3047400" cy="1346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711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713250" y="1272925"/>
            <a:ext cx="7717500" cy="32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9pPr>
          </a:lstStyle>
          <a:p>
            <a:endParaRPr/>
          </a:p>
        </p:txBody>
      </p:sp>
      <p:cxnSp>
        <p:nvCxnSpPr>
          <p:cNvPr id="26" name="Google Shape;26;p4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" name="Google Shape;27;p4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" name="Google Shape;28;p4"/>
          <p:cNvCxnSpPr/>
          <p:nvPr/>
        </p:nvCxnSpPr>
        <p:spPr>
          <a:xfrm>
            <a:off x="6884900" y="-113600"/>
            <a:ext cx="2565600" cy="1306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5681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ubTitle" idx="1"/>
          </p:nvPr>
        </p:nvSpPr>
        <p:spPr>
          <a:xfrm>
            <a:off x="5038975" y="2551449"/>
            <a:ext cx="2486100" cy="50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ubTitle" idx="2"/>
          </p:nvPr>
        </p:nvSpPr>
        <p:spPr>
          <a:xfrm>
            <a:off x="5038975" y="2961200"/>
            <a:ext cx="2486100" cy="90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subTitle" idx="3"/>
          </p:nvPr>
        </p:nvSpPr>
        <p:spPr>
          <a:xfrm>
            <a:off x="1693175" y="2551449"/>
            <a:ext cx="2486100" cy="50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subTitle" idx="4"/>
          </p:nvPr>
        </p:nvSpPr>
        <p:spPr>
          <a:xfrm>
            <a:off x="1693175" y="2961200"/>
            <a:ext cx="2486100" cy="90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35" name="Google Shape;35;p5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" name="Google Shape;36;p5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" name="Google Shape;37;p5"/>
          <p:cNvCxnSpPr/>
          <p:nvPr/>
        </p:nvCxnSpPr>
        <p:spPr>
          <a:xfrm flipH="1">
            <a:off x="6935750" y="3931325"/>
            <a:ext cx="2549400" cy="13545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subTitle" idx="1"/>
          </p:nvPr>
        </p:nvSpPr>
        <p:spPr>
          <a:xfrm>
            <a:off x="895950" y="1682000"/>
            <a:ext cx="3847200" cy="237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57" name="Google Shape;57;p9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" name="Google Shape;58;p9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" name="Google Shape;59;p9"/>
          <p:cNvCxnSpPr/>
          <p:nvPr/>
        </p:nvCxnSpPr>
        <p:spPr>
          <a:xfrm flipH="1">
            <a:off x="5925450" y="2797500"/>
            <a:ext cx="3378000" cy="24669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2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2410500" y="2808253"/>
            <a:ext cx="4323000" cy="49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subTitle" idx="1"/>
          </p:nvPr>
        </p:nvSpPr>
        <p:spPr>
          <a:xfrm>
            <a:off x="1842900" y="1661963"/>
            <a:ext cx="5458200" cy="9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16" name="Google Shape;116;p15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" name="Google Shape;117;p15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4"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 txBox="1">
            <a:spLocks noGrp="1"/>
          </p:cNvSpPr>
          <p:nvPr>
            <p:ph type="subTitle" idx="1"/>
          </p:nvPr>
        </p:nvSpPr>
        <p:spPr>
          <a:xfrm>
            <a:off x="3509000" y="25320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232" name="Google Shape;232;p31"/>
          <p:cNvSpPr txBox="1">
            <a:spLocks noGrp="1"/>
          </p:cNvSpPr>
          <p:nvPr>
            <p:ph type="subTitle" idx="2"/>
          </p:nvPr>
        </p:nvSpPr>
        <p:spPr>
          <a:xfrm>
            <a:off x="3509025" y="2948247"/>
            <a:ext cx="2126100" cy="8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3" name="Google Shape;233;p31"/>
          <p:cNvSpPr txBox="1">
            <a:spLocks noGrp="1"/>
          </p:cNvSpPr>
          <p:nvPr>
            <p:ph type="subTitle" idx="3"/>
          </p:nvPr>
        </p:nvSpPr>
        <p:spPr>
          <a:xfrm>
            <a:off x="953025" y="25320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234" name="Google Shape;234;p31"/>
          <p:cNvSpPr txBox="1">
            <a:spLocks noGrp="1"/>
          </p:cNvSpPr>
          <p:nvPr>
            <p:ph type="subTitle" idx="4"/>
          </p:nvPr>
        </p:nvSpPr>
        <p:spPr>
          <a:xfrm>
            <a:off x="953125" y="2948247"/>
            <a:ext cx="2126100" cy="8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5" name="Google Shape;235;p31"/>
          <p:cNvSpPr txBox="1">
            <a:spLocks noGrp="1"/>
          </p:cNvSpPr>
          <p:nvPr>
            <p:ph type="subTitle" idx="5"/>
          </p:nvPr>
        </p:nvSpPr>
        <p:spPr>
          <a:xfrm>
            <a:off x="6064875" y="25320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236" name="Google Shape;236;p31"/>
          <p:cNvSpPr txBox="1">
            <a:spLocks noGrp="1"/>
          </p:cNvSpPr>
          <p:nvPr>
            <p:ph type="subTitle" idx="6"/>
          </p:nvPr>
        </p:nvSpPr>
        <p:spPr>
          <a:xfrm>
            <a:off x="6064875" y="2948247"/>
            <a:ext cx="2126100" cy="8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7" name="Google Shape;237;p3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665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9" name="Google Shape;239;p31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10"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6" name="Google Shape;456;p51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7" name="Google Shape;457;p51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0_1"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9" name="Google Shape;459;p5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0" name="Google Shape;460;p5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1" name="Google Shape;461;p52"/>
          <p:cNvCxnSpPr/>
          <p:nvPr/>
        </p:nvCxnSpPr>
        <p:spPr>
          <a:xfrm>
            <a:off x="7434175" y="-125600"/>
            <a:ext cx="1993200" cy="1330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2" name="Google Shape;462;p52"/>
          <p:cNvCxnSpPr/>
          <p:nvPr/>
        </p:nvCxnSpPr>
        <p:spPr>
          <a:xfrm>
            <a:off x="-147275" y="3943475"/>
            <a:ext cx="1993200" cy="1330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10_1_1"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Google Shape;464;p53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5" name="Google Shape;465;p53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6" name="Google Shape;466;p53"/>
          <p:cNvCxnSpPr/>
          <p:nvPr/>
        </p:nvCxnSpPr>
        <p:spPr>
          <a:xfrm flipH="1">
            <a:off x="6772150" y="3663450"/>
            <a:ext cx="2823300" cy="1633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30"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8" name="Google Shape;468;p54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9" name="Google Shape;469;p54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0" name="Google Shape;470;p54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1" name="Google Shape;471;p54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2" name="Google Shape;472;p54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3" name="Google Shape;473;p54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idaloka"/>
              <a:buNone/>
              <a:defRPr sz="30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50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5" r:id="rId4"/>
    <p:sldLayoutId id="2147483658" r:id="rId5"/>
    <p:sldLayoutId id="2147483661" r:id="rId6"/>
    <p:sldLayoutId id="2147483677" r:id="rId7"/>
    <p:sldLayoutId id="2147483697" r:id="rId8"/>
    <p:sldLayoutId id="2147483698" r:id="rId9"/>
    <p:sldLayoutId id="2147483699" r:id="rId10"/>
    <p:sldLayoutId id="214748370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60"/>
          <p:cNvSpPr txBox="1">
            <a:spLocks noGrp="1"/>
          </p:cNvSpPr>
          <p:nvPr>
            <p:ph type="ctrTitle"/>
          </p:nvPr>
        </p:nvSpPr>
        <p:spPr>
          <a:xfrm>
            <a:off x="1039975" y="1324500"/>
            <a:ext cx="70641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" sz="4000" dirty="0"/>
              <a:t>Разработка e2e пайплайна прогнозирования спроса в ритейле</a:t>
            </a:r>
            <a:endParaRPr sz="4000" dirty="0"/>
          </a:p>
        </p:txBody>
      </p:sp>
      <p:sp>
        <p:nvSpPr>
          <p:cNvPr id="489" name="Google Shape;489;p60"/>
          <p:cNvSpPr txBox="1">
            <a:spLocks noGrp="1"/>
          </p:cNvSpPr>
          <p:nvPr>
            <p:ph type="subTitle" idx="1"/>
          </p:nvPr>
        </p:nvSpPr>
        <p:spPr>
          <a:xfrm>
            <a:off x="1039950" y="3229628"/>
            <a:ext cx="7064100" cy="4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sz="2400" dirty="0">
                <a:solidFill>
                  <a:schemeClr val="tx1"/>
                </a:solidFill>
              </a:rPr>
              <a:t>Input DQ check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65D0D2-69CA-ECB5-586D-FF7D0BEADD5A}"/>
              </a:ext>
            </a:extLst>
          </p:cNvPr>
          <p:cNvSpPr txBox="1"/>
          <p:nvPr/>
        </p:nvSpPr>
        <p:spPr>
          <a:xfrm>
            <a:off x="3441248" y="3965957"/>
            <a:ext cx="489040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tx1"/>
                </a:solidFill>
                <a:latin typeface="Montserrat"/>
              </a:rPr>
              <a:t>Шуб Сергей </a:t>
            </a:r>
            <a:r>
              <a:rPr lang="ru-RU" sz="1600" dirty="0">
                <a:solidFill>
                  <a:schemeClr val="tx1"/>
                </a:solidFill>
                <a:latin typeface="Montserrat"/>
                <a:sym typeface="Montserrat"/>
              </a:rPr>
              <a:t>Алексеевич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4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4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1;p14">
            <a:extLst>
              <a:ext uri="{FF2B5EF4-FFF2-40B4-BE49-F238E27FC236}">
                <a16:creationId xmlns:a16="http://schemas.microsoft.com/office/drawing/2014/main" id="{4398F9AB-2A7B-FBC7-46AA-300C2FED34D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6488" y="917757"/>
            <a:ext cx="8371024" cy="3473826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Облачко с текстом: прямоугольное 6">
            <a:extLst>
              <a:ext uri="{FF2B5EF4-FFF2-40B4-BE49-F238E27FC236}">
                <a16:creationId xmlns:a16="http://schemas.microsoft.com/office/drawing/2014/main" id="{839FF218-AB39-518D-8C7D-29AC9B531723}"/>
              </a:ext>
            </a:extLst>
          </p:cNvPr>
          <p:cNvSpPr/>
          <p:nvPr/>
        </p:nvSpPr>
        <p:spPr>
          <a:xfrm rot="10800000">
            <a:off x="278352" y="2259754"/>
            <a:ext cx="1544491" cy="2128478"/>
          </a:xfrm>
          <a:prstGeom prst="wedgeRectCallout">
            <a:avLst>
              <a:gd name="adj1" fmla="val -41860"/>
              <a:gd name="adj2" fmla="val 79829"/>
            </a:avLst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C88CDC-6E58-3726-2324-502574B3572C}"/>
              </a:ext>
            </a:extLst>
          </p:cNvPr>
          <p:cNvSpPr txBox="1"/>
          <p:nvPr/>
        </p:nvSpPr>
        <p:spPr>
          <a:xfrm>
            <a:off x="343521" y="2416272"/>
            <a:ext cx="141415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800" b="1" dirty="0">
                <a:solidFill>
                  <a:schemeClr val="tx1"/>
                </a:solidFill>
                <a:latin typeface="Montserrat" panose="00000500000000000000" pitchFamily="2" charset="-52"/>
                <a:cs typeface="Mongolian Baiti" panose="03000500000000000000" pitchFamily="66" charset="0"/>
              </a:rPr>
              <a:t>Что делает и зачем: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800" dirty="0">
                <a:solidFill>
                  <a:schemeClr val="tx1"/>
                </a:solidFill>
                <a:latin typeface="Montserrat" panose="00000500000000000000" pitchFamily="2" charset="-52"/>
                <a:cs typeface="Mongolian Baiti" panose="03000500000000000000" pitchFamily="66" charset="0"/>
              </a:rPr>
              <a:t>Проверка наличия</a:t>
            </a:r>
            <a:r>
              <a:rPr lang="en-US" sz="800" dirty="0">
                <a:solidFill>
                  <a:schemeClr val="tx1"/>
                </a:solidFill>
                <a:latin typeface="Montserrat" panose="00000500000000000000" pitchFamily="2" charset="-52"/>
                <a:cs typeface="Mongolian Baiti" panose="03000500000000000000" pitchFamily="66" charset="0"/>
              </a:rPr>
              <a:t> </a:t>
            </a:r>
            <a:r>
              <a:rPr lang="ru-RU" sz="800" dirty="0">
                <a:solidFill>
                  <a:schemeClr val="tx1"/>
                </a:solidFill>
                <a:latin typeface="Montserrat" panose="00000500000000000000" pitchFamily="2" charset="-52"/>
                <a:cs typeface="Mongolian Baiti" panose="03000500000000000000" pitchFamily="66" charset="0"/>
              </a:rPr>
              <a:t>таблиц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800" dirty="0">
                <a:solidFill>
                  <a:schemeClr val="tx1"/>
                </a:solidFill>
                <a:latin typeface="Montserrat" panose="00000500000000000000" pitchFamily="2" charset="-52"/>
                <a:cs typeface="Mongolian Baiti" panose="03000500000000000000" pitchFamily="66" charset="0"/>
              </a:rPr>
              <a:t>Проверка значений</a:t>
            </a:r>
            <a:r>
              <a:rPr lang="en-US" sz="800" dirty="0">
                <a:solidFill>
                  <a:schemeClr val="tx1"/>
                </a:solidFill>
                <a:latin typeface="Montserrat" panose="00000500000000000000" pitchFamily="2" charset="-52"/>
                <a:cs typeface="Mongolian Baiti" panose="03000500000000000000" pitchFamily="66" charset="0"/>
              </a:rPr>
              <a:t> </a:t>
            </a:r>
            <a:r>
              <a:rPr lang="ru-RU" sz="800" dirty="0">
                <a:solidFill>
                  <a:schemeClr val="tx1"/>
                </a:solidFill>
                <a:latin typeface="Montserrat" panose="00000500000000000000" pitchFamily="2" charset="-52"/>
                <a:cs typeface="Mongolian Baiti" panose="03000500000000000000" pitchFamily="66" charset="0"/>
              </a:rPr>
              <a:t>на </a:t>
            </a:r>
            <a:r>
              <a:rPr lang="ru-RU" sz="800" dirty="0" err="1">
                <a:solidFill>
                  <a:schemeClr val="tx1"/>
                </a:solidFill>
                <a:latin typeface="Montserrat" panose="00000500000000000000" pitchFamily="2" charset="-52"/>
                <a:cs typeface="Mongolian Baiti" panose="03000500000000000000" pitchFamily="66" charset="0"/>
              </a:rPr>
              <a:t>неотрицательность</a:t>
            </a:r>
            <a:endParaRPr lang="ru-RU" sz="800" dirty="0">
              <a:solidFill>
                <a:schemeClr val="tx1"/>
              </a:solidFill>
              <a:latin typeface="Montserrat" panose="00000500000000000000" pitchFamily="2" charset="-52"/>
              <a:cs typeface="Mongolian Baiti" panose="03000500000000000000" pitchFamily="66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800" dirty="0">
                <a:solidFill>
                  <a:schemeClr val="tx1"/>
                </a:solidFill>
                <a:latin typeface="Montserrat" panose="00000500000000000000" pitchFamily="2" charset="-52"/>
                <a:cs typeface="Mongolian Baiti" panose="03000500000000000000" pitchFamily="66" charset="0"/>
              </a:rPr>
              <a:t>Кросс-проверка ключей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800" dirty="0">
                <a:solidFill>
                  <a:schemeClr val="tx1"/>
                </a:solidFill>
                <a:latin typeface="Montserrat" panose="00000500000000000000" pitchFamily="2" charset="-52"/>
                <a:cs typeface="Mongolian Baiti" panose="03000500000000000000" pitchFamily="66" charset="0"/>
              </a:rPr>
              <a:t>Временная кросс-проверка</a:t>
            </a:r>
            <a:endParaRPr lang="en-US" sz="800" dirty="0">
              <a:solidFill>
                <a:schemeClr val="tx1"/>
              </a:solidFill>
              <a:latin typeface="Montserrat" panose="00000500000000000000" pitchFamily="2" charset="-52"/>
              <a:cs typeface="Mongolian Baiti" panose="03000500000000000000" pitchFamily="66" charset="0"/>
            </a:endParaRPr>
          </a:p>
          <a:p>
            <a:r>
              <a:rPr lang="ru-RU" sz="800" b="1" dirty="0">
                <a:solidFill>
                  <a:schemeClr val="tx1"/>
                </a:solidFill>
                <a:latin typeface="Montserrat" panose="00000500000000000000" pitchFamily="2" charset="-52"/>
                <a:cs typeface="Mongolian Baiti" panose="03000500000000000000" pitchFamily="66" charset="0"/>
              </a:rPr>
              <a:t>Зачем нужно:</a:t>
            </a:r>
            <a:br>
              <a:rPr lang="ru-RU" sz="800" dirty="0">
                <a:solidFill>
                  <a:schemeClr val="tx1"/>
                </a:solidFill>
                <a:latin typeface="Montserrat" panose="00000500000000000000" pitchFamily="2" charset="-52"/>
                <a:cs typeface="Mongolian Baiti" panose="03000500000000000000" pitchFamily="66" charset="0"/>
              </a:rPr>
            </a:br>
            <a:r>
              <a:rPr lang="ru-RU" sz="800" dirty="0">
                <a:solidFill>
                  <a:schemeClr val="tx1"/>
                </a:solidFill>
                <a:latin typeface="Montserrat" panose="00000500000000000000" pitchFamily="2" charset="-52"/>
                <a:cs typeface="Mongolian Baiti" panose="03000500000000000000" pitchFamily="66" charset="0"/>
              </a:rPr>
              <a:t>чтобы не пускать “битые” данные дальше по </a:t>
            </a:r>
            <a:r>
              <a:rPr lang="ru-RU" sz="800" dirty="0" err="1">
                <a:solidFill>
                  <a:schemeClr val="tx1"/>
                </a:solidFill>
                <a:latin typeface="Montserrat" panose="00000500000000000000" pitchFamily="2" charset="-52"/>
                <a:cs typeface="Mongolian Baiti" panose="03000500000000000000" pitchFamily="66" charset="0"/>
              </a:rPr>
              <a:t>пайплайну</a:t>
            </a:r>
            <a:endParaRPr lang="en-US" sz="800" dirty="0">
              <a:solidFill>
                <a:schemeClr val="tx1"/>
              </a:solidFill>
              <a:latin typeface="Montserrat" panose="00000500000000000000" pitchFamily="2" charset="-52"/>
              <a:cs typeface="Mongolian Baiti" panose="03000500000000000000" pitchFamily="66" charset="0"/>
            </a:endParaRPr>
          </a:p>
        </p:txBody>
      </p:sp>
      <p:sp>
        <p:nvSpPr>
          <p:cNvPr id="10" name="Google Shape;60;p14">
            <a:extLst>
              <a:ext uri="{FF2B5EF4-FFF2-40B4-BE49-F238E27FC236}">
                <a16:creationId xmlns:a16="http://schemas.microsoft.com/office/drawing/2014/main" id="{E6987EB5-700C-236B-18DF-7B3AC37389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45057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Montserrat" panose="00000500000000000000" pitchFamily="2" charset="-52"/>
              </a:rPr>
              <a:t>e2e процесс прогнзировния спроса</a:t>
            </a:r>
            <a:endParaRPr dirty="0">
              <a:latin typeface="Montserrat" panose="00000500000000000000" pitchFamily="2" charset="-5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3">
          <a:extLst>
            <a:ext uri="{FF2B5EF4-FFF2-40B4-BE49-F238E27FC236}">
              <a16:creationId xmlns:a16="http://schemas.microsoft.com/office/drawing/2014/main" id="{0DB6D388-955B-C24F-BCE2-7EDE61B6B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Google Shape;884;p90">
            <a:extLst>
              <a:ext uri="{FF2B5EF4-FFF2-40B4-BE49-F238E27FC236}">
                <a16:creationId xmlns:a16="http://schemas.microsoft.com/office/drawing/2014/main" id="{AA3779B1-8D35-348C-4213-F4D2A39F0D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665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/>
              <a:t>Данные на входе шага</a:t>
            </a:r>
            <a:endParaRPr dirty="0"/>
          </a:p>
        </p:txBody>
      </p:sp>
      <p:sp>
        <p:nvSpPr>
          <p:cNvPr id="885" name="Google Shape;885;p90">
            <a:extLst>
              <a:ext uri="{FF2B5EF4-FFF2-40B4-BE49-F238E27FC236}">
                <a16:creationId xmlns:a16="http://schemas.microsoft.com/office/drawing/2014/main" id="{707362CC-1F12-B230-9F72-CDA9636612E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44307" y="2558849"/>
            <a:ext cx="3252650" cy="4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dirty="0"/>
              <a:t>Числовые показатели</a:t>
            </a:r>
            <a:endParaRPr dirty="0"/>
          </a:p>
        </p:txBody>
      </p:sp>
      <p:sp>
        <p:nvSpPr>
          <p:cNvPr id="886" name="Google Shape;886;p90">
            <a:extLst>
              <a:ext uri="{FF2B5EF4-FFF2-40B4-BE49-F238E27FC236}">
                <a16:creationId xmlns:a16="http://schemas.microsoft.com/office/drawing/2014/main" id="{55EE716E-CEB1-37AE-1E73-5E8A46E3B168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3509025" y="2948247"/>
            <a:ext cx="2555750" cy="8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SALES_QTY, STOCK_QTY, SELL_IN_QTY, SELL_OUT_QTY, PRICE, PROMO_PRICE </a:t>
            </a:r>
            <a:r>
              <a:rPr lang="ru-RU" dirty="0"/>
              <a:t>-</a:t>
            </a:r>
            <a:r>
              <a:rPr lang="en-US" dirty="0"/>
              <a:t> </a:t>
            </a:r>
            <a:r>
              <a:rPr lang="ru-RU" dirty="0"/>
              <a:t>проверки на </a:t>
            </a:r>
            <a:r>
              <a:rPr lang="ru-RU" dirty="0" err="1"/>
              <a:t>неотрицательность</a:t>
            </a:r>
            <a:endParaRPr dirty="0"/>
          </a:p>
        </p:txBody>
      </p:sp>
      <p:sp>
        <p:nvSpPr>
          <p:cNvPr id="887" name="Google Shape;887;p90">
            <a:extLst>
              <a:ext uri="{FF2B5EF4-FFF2-40B4-BE49-F238E27FC236}">
                <a16:creationId xmlns:a16="http://schemas.microsoft.com/office/drawing/2014/main" id="{A25C7D83-5F23-8979-13BC-9863CAC3ED50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953025" y="25320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dirty="0"/>
              <a:t>Набор таблиц</a:t>
            </a:r>
            <a:endParaRPr dirty="0"/>
          </a:p>
        </p:txBody>
      </p:sp>
      <p:sp>
        <p:nvSpPr>
          <p:cNvPr id="888" name="Google Shape;888;p90">
            <a:extLst>
              <a:ext uri="{FF2B5EF4-FFF2-40B4-BE49-F238E27FC236}">
                <a16:creationId xmlns:a16="http://schemas.microsoft.com/office/drawing/2014/main" id="{F8B47FF2-5BF4-4585-B0A6-4C2ECB8E7D73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953125" y="2948247"/>
            <a:ext cx="2126100" cy="1542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DDS-</a:t>
            </a:r>
            <a:r>
              <a:rPr lang="ru-RU" dirty="0"/>
              <a:t>таблицы клиента формата IN_*.</a:t>
            </a:r>
            <a:r>
              <a:rPr lang="en-US" dirty="0"/>
              <a:t>(DPS_*)</a:t>
            </a:r>
            <a:r>
              <a:rPr lang="ru-RU" dirty="0"/>
              <a:t>, которые мы проверяем на качество</a:t>
            </a:r>
            <a:endParaRPr dirty="0"/>
          </a:p>
        </p:txBody>
      </p:sp>
      <p:sp>
        <p:nvSpPr>
          <p:cNvPr id="889" name="Google Shape;889;p90">
            <a:extLst>
              <a:ext uri="{FF2B5EF4-FFF2-40B4-BE49-F238E27FC236}">
                <a16:creationId xmlns:a16="http://schemas.microsoft.com/office/drawing/2014/main" id="{8DFC3509-8A5F-C61E-42BA-1E4EA723CDE4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6064875" y="25320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dirty="0"/>
              <a:t>Ключи и календарь</a:t>
            </a:r>
            <a:endParaRPr dirty="0"/>
          </a:p>
        </p:txBody>
      </p:sp>
      <p:sp>
        <p:nvSpPr>
          <p:cNvPr id="890" name="Google Shape;890;p90">
            <a:extLst>
              <a:ext uri="{FF2B5EF4-FFF2-40B4-BE49-F238E27FC236}">
                <a16:creationId xmlns:a16="http://schemas.microsoft.com/office/drawing/2014/main" id="{1258F5C5-EC9C-5FF0-3CDE-75D58225964D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6064775" y="3382284"/>
            <a:ext cx="2791554" cy="8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PRODUCT_ID, LOCATION_ID, CUSTOMER_ID, DISTR_CHANNEL_ID, PERIOD_DT </a:t>
            </a:r>
            <a:r>
              <a:rPr lang="ru-RU" dirty="0"/>
              <a:t>-</a:t>
            </a:r>
            <a:r>
              <a:rPr lang="en-US" dirty="0"/>
              <a:t> </a:t>
            </a:r>
            <a:r>
              <a:rPr lang="ru-RU" dirty="0"/>
              <a:t>основа кросс-проверок по связям и временным провалам</a:t>
            </a:r>
            <a:endParaRPr dirty="0"/>
          </a:p>
        </p:txBody>
      </p:sp>
      <p:grpSp>
        <p:nvGrpSpPr>
          <p:cNvPr id="2" name="Google Shape;8609;p147">
            <a:extLst>
              <a:ext uri="{FF2B5EF4-FFF2-40B4-BE49-F238E27FC236}">
                <a16:creationId xmlns:a16="http://schemas.microsoft.com/office/drawing/2014/main" id="{7E610F36-7476-1E84-3D58-29FCD039C0D8}"/>
              </a:ext>
            </a:extLst>
          </p:cNvPr>
          <p:cNvGrpSpPr/>
          <p:nvPr/>
        </p:nvGrpSpPr>
        <p:grpSpPr>
          <a:xfrm>
            <a:off x="1703139" y="1996113"/>
            <a:ext cx="625871" cy="572700"/>
            <a:chOff x="-45673275" y="3199325"/>
            <a:chExt cx="299325" cy="302075"/>
          </a:xfrm>
          <a:solidFill>
            <a:srgbClr val="3F3533"/>
          </a:solidFill>
        </p:grpSpPr>
        <p:sp>
          <p:nvSpPr>
            <p:cNvPr id="3" name="Google Shape;8610;p147">
              <a:extLst>
                <a:ext uri="{FF2B5EF4-FFF2-40B4-BE49-F238E27FC236}">
                  <a16:creationId xmlns:a16="http://schemas.microsoft.com/office/drawing/2014/main" id="{34C07B52-BFBC-B7ED-D279-B061FB662040}"/>
                </a:ext>
              </a:extLst>
            </p:cNvPr>
            <p:cNvSpPr/>
            <p:nvPr/>
          </p:nvSpPr>
          <p:spPr>
            <a:xfrm>
              <a:off x="-45672500" y="3199325"/>
              <a:ext cx="298550" cy="194175"/>
            </a:xfrm>
            <a:custGeom>
              <a:avLst/>
              <a:gdLst/>
              <a:ahLst/>
              <a:cxnLst/>
              <a:rect l="l" t="t" r="r" b="b"/>
              <a:pathLst>
                <a:path w="11942" h="7767" extrusionOk="0">
                  <a:moveTo>
                    <a:pt x="5947" y="0"/>
                  </a:moveTo>
                  <a:cubicBezTo>
                    <a:pt x="5884" y="0"/>
                    <a:pt x="5829" y="16"/>
                    <a:pt x="5798" y="47"/>
                  </a:cubicBezTo>
                  <a:lnTo>
                    <a:pt x="158" y="3607"/>
                  </a:lnTo>
                  <a:cubicBezTo>
                    <a:pt x="32" y="3670"/>
                    <a:pt x="1" y="3765"/>
                    <a:pt x="1" y="3922"/>
                  </a:cubicBezTo>
                  <a:cubicBezTo>
                    <a:pt x="1" y="4017"/>
                    <a:pt x="64" y="4143"/>
                    <a:pt x="158" y="4237"/>
                  </a:cubicBezTo>
                  <a:lnTo>
                    <a:pt x="5735" y="7735"/>
                  </a:lnTo>
                  <a:cubicBezTo>
                    <a:pt x="5798" y="7766"/>
                    <a:pt x="5861" y="7766"/>
                    <a:pt x="5955" y="7766"/>
                  </a:cubicBezTo>
                  <a:cubicBezTo>
                    <a:pt x="6018" y="7766"/>
                    <a:pt x="6050" y="7766"/>
                    <a:pt x="6144" y="7735"/>
                  </a:cubicBezTo>
                  <a:lnTo>
                    <a:pt x="11784" y="4237"/>
                  </a:lnTo>
                  <a:cubicBezTo>
                    <a:pt x="11878" y="4143"/>
                    <a:pt x="11941" y="4080"/>
                    <a:pt x="11941" y="3922"/>
                  </a:cubicBezTo>
                  <a:cubicBezTo>
                    <a:pt x="11941" y="3796"/>
                    <a:pt x="11847" y="3670"/>
                    <a:pt x="11784" y="3607"/>
                  </a:cubicBezTo>
                  <a:lnTo>
                    <a:pt x="6144" y="47"/>
                  </a:lnTo>
                  <a:cubicBezTo>
                    <a:pt x="6081" y="16"/>
                    <a:pt x="6010" y="0"/>
                    <a:pt x="594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8611;p147">
              <a:extLst>
                <a:ext uri="{FF2B5EF4-FFF2-40B4-BE49-F238E27FC236}">
                  <a16:creationId xmlns:a16="http://schemas.microsoft.com/office/drawing/2014/main" id="{782C8BB0-E8A6-5DB2-E3DD-3DB4704E5948}"/>
                </a:ext>
              </a:extLst>
            </p:cNvPr>
            <p:cNvSpPr/>
            <p:nvPr/>
          </p:nvSpPr>
          <p:spPr>
            <a:xfrm>
              <a:off x="-45673275" y="3387150"/>
              <a:ext cx="299325" cy="114250"/>
            </a:xfrm>
            <a:custGeom>
              <a:avLst/>
              <a:gdLst/>
              <a:ahLst/>
              <a:cxnLst/>
              <a:rect l="l" t="t" r="r" b="b"/>
              <a:pathLst>
                <a:path w="11973" h="4570" extrusionOk="0">
                  <a:moveTo>
                    <a:pt x="693" y="1"/>
                  </a:moveTo>
                  <a:lnTo>
                    <a:pt x="158" y="348"/>
                  </a:lnTo>
                  <a:cubicBezTo>
                    <a:pt x="32" y="411"/>
                    <a:pt x="0" y="505"/>
                    <a:pt x="0" y="663"/>
                  </a:cubicBezTo>
                  <a:cubicBezTo>
                    <a:pt x="0" y="789"/>
                    <a:pt x="63" y="883"/>
                    <a:pt x="158" y="978"/>
                  </a:cubicBezTo>
                  <a:lnTo>
                    <a:pt x="5797" y="4506"/>
                  </a:lnTo>
                  <a:cubicBezTo>
                    <a:pt x="5829" y="4569"/>
                    <a:pt x="5892" y="4569"/>
                    <a:pt x="5986" y="4569"/>
                  </a:cubicBezTo>
                  <a:cubicBezTo>
                    <a:pt x="6049" y="4569"/>
                    <a:pt x="6112" y="4569"/>
                    <a:pt x="6175" y="4506"/>
                  </a:cubicBezTo>
                  <a:lnTo>
                    <a:pt x="11815" y="978"/>
                  </a:lnTo>
                  <a:cubicBezTo>
                    <a:pt x="11941" y="883"/>
                    <a:pt x="11972" y="820"/>
                    <a:pt x="11972" y="663"/>
                  </a:cubicBezTo>
                  <a:cubicBezTo>
                    <a:pt x="11972" y="537"/>
                    <a:pt x="11878" y="411"/>
                    <a:pt x="11815" y="348"/>
                  </a:cubicBezTo>
                  <a:lnTo>
                    <a:pt x="11248" y="1"/>
                  </a:lnTo>
                  <a:lnTo>
                    <a:pt x="6175" y="3151"/>
                  </a:lnTo>
                  <a:cubicBezTo>
                    <a:pt x="6144" y="3183"/>
                    <a:pt x="6049" y="3183"/>
                    <a:pt x="5986" y="3183"/>
                  </a:cubicBezTo>
                  <a:cubicBezTo>
                    <a:pt x="5892" y="3183"/>
                    <a:pt x="5860" y="3183"/>
                    <a:pt x="5797" y="3151"/>
                  </a:cubicBezTo>
                  <a:lnTo>
                    <a:pt x="693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8612;p147">
              <a:extLst>
                <a:ext uri="{FF2B5EF4-FFF2-40B4-BE49-F238E27FC236}">
                  <a16:creationId xmlns:a16="http://schemas.microsoft.com/office/drawing/2014/main" id="{61E647E5-FA3E-1FA8-6553-668518A69CDB}"/>
                </a:ext>
              </a:extLst>
            </p:cNvPr>
            <p:cNvSpPr/>
            <p:nvPr/>
          </p:nvSpPr>
          <p:spPr>
            <a:xfrm>
              <a:off x="-45673275" y="3334400"/>
              <a:ext cx="299325" cy="113425"/>
            </a:xfrm>
            <a:custGeom>
              <a:avLst/>
              <a:gdLst/>
              <a:ahLst/>
              <a:cxnLst/>
              <a:rect l="l" t="t" r="r" b="b"/>
              <a:pathLst>
                <a:path w="11973" h="4537" extrusionOk="0">
                  <a:moveTo>
                    <a:pt x="693" y="0"/>
                  </a:moveTo>
                  <a:lnTo>
                    <a:pt x="158" y="378"/>
                  </a:lnTo>
                  <a:cubicBezTo>
                    <a:pt x="32" y="441"/>
                    <a:pt x="0" y="536"/>
                    <a:pt x="0" y="693"/>
                  </a:cubicBezTo>
                  <a:cubicBezTo>
                    <a:pt x="0" y="851"/>
                    <a:pt x="63" y="914"/>
                    <a:pt x="158" y="1008"/>
                  </a:cubicBezTo>
                  <a:lnTo>
                    <a:pt x="5797" y="4505"/>
                  </a:lnTo>
                  <a:cubicBezTo>
                    <a:pt x="5829" y="4537"/>
                    <a:pt x="5892" y="4537"/>
                    <a:pt x="5986" y="4537"/>
                  </a:cubicBezTo>
                  <a:cubicBezTo>
                    <a:pt x="6049" y="4537"/>
                    <a:pt x="6112" y="4537"/>
                    <a:pt x="6175" y="4505"/>
                  </a:cubicBezTo>
                  <a:lnTo>
                    <a:pt x="11815" y="1008"/>
                  </a:lnTo>
                  <a:cubicBezTo>
                    <a:pt x="11941" y="914"/>
                    <a:pt x="11972" y="851"/>
                    <a:pt x="11972" y="693"/>
                  </a:cubicBezTo>
                  <a:cubicBezTo>
                    <a:pt x="11972" y="536"/>
                    <a:pt x="11878" y="441"/>
                    <a:pt x="11815" y="378"/>
                  </a:cubicBezTo>
                  <a:lnTo>
                    <a:pt x="11248" y="0"/>
                  </a:lnTo>
                  <a:lnTo>
                    <a:pt x="6175" y="3214"/>
                  </a:lnTo>
                  <a:cubicBezTo>
                    <a:pt x="6144" y="3245"/>
                    <a:pt x="6049" y="3245"/>
                    <a:pt x="5986" y="3245"/>
                  </a:cubicBezTo>
                  <a:cubicBezTo>
                    <a:pt x="5892" y="3245"/>
                    <a:pt x="5860" y="3245"/>
                    <a:pt x="5797" y="3214"/>
                  </a:cubicBezTo>
                  <a:lnTo>
                    <a:pt x="69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" name="Google Shape;7350;p145">
            <a:extLst>
              <a:ext uri="{FF2B5EF4-FFF2-40B4-BE49-F238E27FC236}">
                <a16:creationId xmlns:a16="http://schemas.microsoft.com/office/drawing/2014/main" id="{08650FE3-497C-FFAF-4807-612F3128D4ED}"/>
              </a:ext>
            </a:extLst>
          </p:cNvPr>
          <p:cNvGrpSpPr/>
          <p:nvPr/>
        </p:nvGrpSpPr>
        <p:grpSpPr>
          <a:xfrm rot="5400000">
            <a:off x="4285650" y="1970337"/>
            <a:ext cx="572700" cy="624251"/>
            <a:chOff x="-59400775" y="4084200"/>
            <a:chExt cx="311125" cy="315875"/>
          </a:xfrm>
          <a:solidFill>
            <a:srgbClr val="3F3533"/>
          </a:solidFill>
        </p:grpSpPr>
        <p:sp>
          <p:nvSpPr>
            <p:cNvPr id="7" name="Google Shape;7351;p145">
              <a:extLst>
                <a:ext uri="{FF2B5EF4-FFF2-40B4-BE49-F238E27FC236}">
                  <a16:creationId xmlns:a16="http://schemas.microsoft.com/office/drawing/2014/main" id="{21339315-6EEC-993A-423B-03DFB520CE6A}"/>
                </a:ext>
              </a:extLst>
            </p:cNvPr>
            <p:cNvSpPr/>
            <p:nvPr/>
          </p:nvSpPr>
          <p:spPr>
            <a:xfrm>
              <a:off x="-59400775" y="4317350"/>
              <a:ext cx="89800" cy="82725"/>
            </a:xfrm>
            <a:custGeom>
              <a:avLst/>
              <a:gdLst/>
              <a:ahLst/>
              <a:cxnLst/>
              <a:rect l="l" t="t" r="r" b="b"/>
              <a:pathLst>
                <a:path w="3592" h="3309" extrusionOk="0">
                  <a:moveTo>
                    <a:pt x="1796" y="851"/>
                  </a:moveTo>
                  <a:cubicBezTo>
                    <a:pt x="2048" y="851"/>
                    <a:pt x="2237" y="1071"/>
                    <a:pt x="2237" y="1260"/>
                  </a:cubicBezTo>
                  <a:cubicBezTo>
                    <a:pt x="2237" y="1449"/>
                    <a:pt x="2048" y="1701"/>
                    <a:pt x="1796" y="1701"/>
                  </a:cubicBezTo>
                  <a:cubicBezTo>
                    <a:pt x="1576" y="1701"/>
                    <a:pt x="1418" y="1481"/>
                    <a:pt x="1418" y="1260"/>
                  </a:cubicBezTo>
                  <a:cubicBezTo>
                    <a:pt x="1418" y="1008"/>
                    <a:pt x="1576" y="851"/>
                    <a:pt x="1796" y="851"/>
                  </a:cubicBezTo>
                  <a:close/>
                  <a:moveTo>
                    <a:pt x="0" y="0"/>
                  </a:moveTo>
                  <a:lnTo>
                    <a:pt x="0" y="2079"/>
                  </a:lnTo>
                  <a:cubicBezTo>
                    <a:pt x="0" y="2741"/>
                    <a:pt x="536" y="3308"/>
                    <a:pt x="1229" y="3308"/>
                  </a:cubicBezTo>
                  <a:lnTo>
                    <a:pt x="2332" y="3308"/>
                  </a:lnTo>
                  <a:cubicBezTo>
                    <a:pt x="2993" y="3308"/>
                    <a:pt x="3592" y="2741"/>
                    <a:pt x="3592" y="2079"/>
                  </a:cubicBezTo>
                  <a:lnTo>
                    <a:pt x="3592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7352;p145">
              <a:extLst>
                <a:ext uri="{FF2B5EF4-FFF2-40B4-BE49-F238E27FC236}">
                  <a16:creationId xmlns:a16="http://schemas.microsoft.com/office/drawing/2014/main" id="{CA64D5A0-F25F-054C-8FF5-44A514155F93}"/>
                </a:ext>
              </a:extLst>
            </p:cNvPr>
            <p:cNvSpPr/>
            <p:nvPr/>
          </p:nvSpPr>
          <p:spPr>
            <a:xfrm>
              <a:off x="-59400000" y="4084200"/>
              <a:ext cx="89825" cy="212700"/>
            </a:xfrm>
            <a:custGeom>
              <a:avLst/>
              <a:gdLst/>
              <a:ahLst/>
              <a:cxnLst/>
              <a:rect l="l" t="t" r="r" b="b"/>
              <a:pathLst>
                <a:path w="3593" h="8508" extrusionOk="0">
                  <a:moveTo>
                    <a:pt x="1734" y="1607"/>
                  </a:moveTo>
                  <a:cubicBezTo>
                    <a:pt x="1923" y="1607"/>
                    <a:pt x="2175" y="1797"/>
                    <a:pt x="2175" y="2049"/>
                  </a:cubicBezTo>
                  <a:lnTo>
                    <a:pt x="2175" y="7278"/>
                  </a:lnTo>
                  <a:cubicBezTo>
                    <a:pt x="2175" y="7499"/>
                    <a:pt x="1986" y="7656"/>
                    <a:pt x="1734" y="7656"/>
                  </a:cubicBezTo>
                  <a:cubicBezTo>
                    <a:pt x="1513" y="7656"/>
                    <a:pt x="1356" y="7467"/>
                    <a:pt x="1356" y="7278"/>
                  </a:cubicBezTo>
                  <a:lnTo>
                    <a:pt x="1356" y="2049"/>
                  </a:lnTo>
                  <a:cubicBezTo>
                    <a:pt x="1356" y="1797"/>
                    <a:pt x="1545" y="1607"/>
                    <a:pt x="1734" y="1607"/>
                  </a:cubicBezTo>
                  <a:close/>
                  <a:moveTo>
                    <a:pt x="1230" y="1"/>
                  </a:moveTo>
                  <a:cubicBezTo>
                    <a:pt x="568" y="1"/>
                    <a:pt x="1" y="536"/>
                    <a:pt x="1" y="1198"/>
                  </a:cubicBezTo>
                  <a:lnTo>
                    <a:pt x="1" y="8507"/>
                  </a:lnTo>
                  <a:lnTo>
                    <a:pt x="3593" y="8507"/>
                  </a:lnTo>
                  <a:lnTo>
                    <a:pt x="3593" y="1198"/>
                  </a:lnTo>
                  <a:cubicBezTo>
                    <a:pt x="3561" y="536"/>
                    <a:pt x="2994" y="1"/>
                    <a:pt x="23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7353;p145">
              <a:extLst>
                <a:ext uri="{FF2B5EF4-FFF2-40B4-BE49-F238E27FC236}">
                  <a16:creationId xmlns:a16="http://schemas.microsoft.com/office/drawing/2014/main" id="{BB0120B1-849A-06EB-D8F1-A031329340BE}"/>
                </a:ext>
              </a:extLst>
            </p:cNvPr>
            <p:cNvSpPr/>
            <p:nvPr/>
          </p:nvSpPr>
          <p:spPr>
            <a:xfrm>
              <a:off x="-59290500" y="4317350"/>
              <a:ext cx="89800" cy="82725"/>
            </a:xfrm>
            <a:custGeom>
              <a:avLst/>
              <a:gdLst/>
              <a:ahLst/>
              <a:cxnLst/>
              <a:rect l="l" t="t" r="r" b="b"/>
              <a:pathLst>
                <a:path w="3592" h="3309" extrusionOk="0">
                  <a:moveTo>
                    <a:pt x="1796" y="851"/>
                  </a:moveTo>
                  <a:cubicBezTo>
                    <a:pt x="2048" y="851"/>
                    <a:pt x="2205" y="1071"/>
                    <a:pt x="2205" y="1260"/>
                  </a:cubicBezTo>
                  <a:cubicBezTo>
                    <a:pt x="2205" y="1449"/>
                    <a:pt x="2016" y="1701"/>
                    <a:pt x="1796" y="1701"/>
                  </a:cubicBezTo>
                  <a:cubicBezTo>
                    <a:pt x="1575" y="1701"/>
                    <a:pt x="1386" y="1481"/>
                    <a:pt x="1386" y="1260"/>
                  </a:cubicBezTo>
                  <a:cubicBezTo>
                    <a:pt x="1386" y="1008"/>
                    <a:pt x="1575" y="851"/>
                    <a:pt x="1796" y="851"/>
                  </a:cubicBezTo>
                  <a:close/>
                  <a:moveTo>
                    <a:pt x="0" y="0"/>
                  </a:moveTo>
                  <a:lnTo>
                    <a:pt x="0" y="2079"/>
                  </a:lnTo>
                  <a:cubicBezTo>
                    <a:pt x="0" y="2741"/>
                    <a:pt x="536" y="3308"/>
                    <a:pt x="1260" y="3308"/>
                  </a:cubicBezTo>
                  <a:lnTo>
                    <a:pt x="2363" y="3308"/>
                  </a:lnTo>
                  <a:cubicBezTo>
                    <a:pt x="3025" y="3308"/>
                    <a:pt x="3592" y="2741"/>
                    <a:pt x="3592" y="2079"/>
                  </a:cubicBezTo>
                  <a:lnTo>
                    <a:pt x="3592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7354;p145">
              <a:extLst>
                <a:ext uri="{FF2B5EF4-FFF2-40B4-BE49-F238E27FC236}">
                  <a16:creationId xmlns:a16="http://schemas.microsoft.com/office/drawing/2014/main" id="{BD9D1CD9-E57C-AB54-6CF0-A118FE70B130}"/>
                </a:ext>
              </a:extLst>
            </p:cNvPr>
            <p:cNvSpPr/>
            <p:nvPr/>
          </p:nvSpPr>
          <p:spPr>
            <a:xfrm>
              <a:off x="-59290500" y="4084200"/>
              <a:ext cx="89800" cy="212700"/>
            </a:xfrm>
            <a:custGeom>
              <a:avLst/>
              <a:gdLst/>
              <a:ahLst/>
              <a:cxnLst/>
              <a:rect l="l" t="t" r="r" b="b"/>
              <a:pathLst>
                <a:path w="3592" h="8508" extrusionOk="0">
                  <a:moveTo>
                    <a:pt x="1796" y="1607"/>
                  </a:moveTo>
                  <a:cubicBezTo>
                    <a:pt x="2048" y="1607"/>
                    <a:pt x="2205" y="1797"/>
                    <a:pt x="2205" y="2049"/>
                  </a:cubicBezTo>
                  <a:lnTo>
                    <a:pt x="2205" y="7278"/>
                  </a:lnTo>
                  <a:cubicBezTo>
                    <a:pt x="2205" y="7499"/>
                    <a:pt x="2016" y="7656"/>
                    <a:pt x="1796" y="7656"/>
                  </a:cubicBezTo>
                  <a:cubicBezTo>
                    <a:pt x="1607" y="7656"/>
                    <a:pt x="1386" y="7467"/>
                    <a:pt x="1386" y="7278"/>
                  </a:cubicBezTo>
                  <a:lnTo>
                    <a:pt x="1386" y="2049"/>
                  </a:lnTo>
                  <a:cubicBezTo>
                    <a:pt x="1386" y="1797"/>
                    <a:pt x="1575" y="1607"/>
                    <a:pt x="1796" y="1607"/>
                  </a:cubicBezTo>
                  <a:close/>
                  <a:moveTo>
                    <a:pt x="1260" y="1"/>
                  </a:moveTo>
                  <a:cubicBezTo>
                    <a:pt x="599" y="1"/>
                    <a:pt x="0" y="536"/>
                    <a:pt x="0" y="1198"/>
                  </a:cubicBezTo>
                  <a:lnTo>
                    <a:pt x="0" y="8507"/>
                  </a:lnTo>
                  <a:lnTo>
                    <a:pt x="3592" y="8507"/>
                  </a:lnTo>
                  <a:lnTo>
                    <a:pt x="3592" y="1198"/>
                  </a:lnTo>
                  <a:cubicBezTo>
                    <a:pt x="3592" y="536"/>
                    <a:pt x="3025" y="1"/>
                    <a:pt x="23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7355;p145">
              <a:extLst>
                <a:ext uri="{FF2B5EF4-FFF2-40B4-BE49-F238E27FC236}">
                  <a16:creationId xmlns:a16="http://schemas.microsoft.com/office/drawing/2014/main" id="{0594995E-3F69-70C3-E93D-3607FE97C78B}"/>
                </a:ext>
              </a:extLst>
            </p:cNvPr>
            <p:cNvSpPr/>
            <p:nvPr/>
          </p:nvSpPr>
          <p:spPr>
            <a:xfrm>
              <a:off x="-59181025" y="4317350"/>
              <a:ext cx="89800" cy="82725"/>
            </a:xfrm>
            <a:custGeom>
              <a:avLst/>
              <a:gdLst/>
              <a:ahLst/>
              <a:cxnLst/>
              <a:rect l="l" t="t" r="r" b="b"/>
              <a:pathLst>
                <a:path w="3592" h="3309" extrusionOk="0">
                  <a:moveTo>
                    <a:pt x="1828" y="851"/>
                  </a:moveTo>
                  <a:cubicBezTo>
                    <a:pt x="2080" y="851"/>
                    <a:pt x="2269" y="1071"/>
                    <a:pt x="2269" y="1260"/>
                  </a:cubicBezTo>
                  <a:cubicBezTo>
                    <a:pt x="2269" y="1449"/>
                    <a:pt x="2080" y="1701"/>
                    <a:pt x="1828" y="1701"/>
                  </a:cubicBezTo>
                  <a:cubicBezTo>
                    <a:pt x="1607" y="1701"/>
                    <a:pt x="1450" y="1481"/>
                    <a:pt x="1450" y="1260"/>
                  </a:cubicBezTo>
                  <a:cubicBezTo>
                    <a:pt x="1450" y="1008"/>
                    <a:pt x="1607" y="851"/>
                    <a:pt x="1828" y="851"/>
                  </a:cubicBezTo>
                  <a:close/>
                  <a:moveTo>
                    <a:pt x="0" y="0"/>
                  </a:moveTo>
                  <a:lnTo>
                    <a:pt x="0" y="2079"/>
                  </a:lnTo>
                  <a:lnTo>
                    <a:pt x="32" y="2079"/>
                  </a:lnTo>
                  <a:cubicBezTo>
                    <a:pt x="32" y="2741"/>
                    <a:pt x="567" y="3308"/>
                    <a:pt x="1261" y="3308"/>
                  </a:cubicBezTo>
                  <a:lnTo>
                    <a:pt x="2363" y="3308"/>
                  </a:lnTo>
                  <a:cubicBezTo>
                    <a:pt x="3025" y="3308"/>
                    <a:pt x="3592" y="2741"/>
                    <a:pt x="3592" y="2079"/>
                  </a:cubicBezTo>
                  <a:lnTo>
                    <a:pt x="3592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7356;p145">
              <a:extLst>
                <a:ext uri="{FF2B5EF4-FFF2-40B4-BE49-F238E27FC236}">
                  <a16:creationId xmlns:a16="http://schemas.microsoft.com/office/drawing/2014/main" id="{0924A43F-8A01-E22F-69F8-1093D8350EB3}"/>
                </a:ext>
              </a:extLst>
            </p:cNvPr>
            <p:cNvSpPr/>
            <p:nvPr/>
          </p:nvSpPr>
          <p:spPr>
            <a:xfrm>
              <a:off x="-59179450" y="4084200"/>
              <a:ext cx="89800" cy="212700"/>
            </a:xfrm>
            <a:custGeom>
              <a:avLst/>
              <a:gdLst/>
              <a:ahLst/>
              <a:cxnLst/>
              <a:rect l="l" t="t" r="r" b="b"/>
              <a:pathLst>
                <a:path w="3592" h="8508" extrusionOk="0">
                  <a:moveTo>
                    <a:pt x="1733" y="1607"/>
                  </a:moveTo>
                  <a:cubicBezTo>
                    <a:pt x="1922" y="1607"/>
                    <a:pt x="2174" y="1797"/>
                    <a:pt x="2174" y="2049"/>
                  </a:cubicBezTo>
                  <a:lnTo>
                    <a:pt x="2174" y="7278"/>
                  </a:lnTo>
                  <a:cubicBezTo>
                    <a:pt x="2174" y="7499"/>
                    <a:pt x="1985" y="7656"/>
                    <a:pt x="1733" y="7656"/>
                  </a:cubicBezTo>
                  <a:cubicBezTo>
                    <a:pt x="1513" y="7656"/>
                    <a:pt x="1355" y="7467"/>
                    <a:pt x="1355" y="7278"/>
                  </a:cubicBezTo>
                  <a:lnTo>
                    <a:pt x="1355" y="2049"/>
                  </a:lnTo>
                  <a:cubicBezTo>
                    <a:pt x="1355" y="1797"/>
                    <a:pt x="1544" y="1607"/>
                    <a:pt x="1733" y="1607"/>
                  </a:cubicBezTo>
                  <a:close/>
                  <a:moveTo>
                    <a:pt x="1229" y="1"/>
                  </a:moveTo>
                  <a:cubicBezTo>
                    <a:pt x="567" y="1"/>
                    <a:pt x="0" y="536"/>
                    <a:pt x="0" y="1198"/>
                  </a:cubicBezTo>
                  <a:lnTo>
                    <a:pt x="0" y="8507"/>
                  </a:lnTo>
                  <a:lnTo>
                    <a:pt x="3592" y="8507"/>
                  </a:lnTo>
                  <a:lnTo>
                    <a:pt x="3592" y="1198"/>
                  </a:lnTo>
                  <a:cubicBezTo>
                    <a:pt x="3560" y="536"/>
                    <a:pt x="2993" y="1"/>
                    <a:pt x="23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" name="Google Shape;7350;p145">
            <a:extLst>
              <a:ext uri="{FF2B5EF4-FFF2-40B4-BE49-F238E27FC236}">
                <a16:creationId xmlns:a16="http://schemas.microsoft.com/office/drawing/2014/main" id="{B023B477-65B5-DFFC-EB7B-2A75B20C5E20}"/>
              </a:ext>
            </a:extLst>
          </p:cNvPr>
          <p:cNvGrpSpPr/>
          <p:nvPr/>
        </p:nvGrpSpPr>
        <p:grpSpPr>
          <a:xfrm rot="5400000">
            <a:off x="6840765" y="1970338"/>
            <a:ext cx="572700" cy="624251"/>
            <a:chOff x="-59400775" y="4084200"/>
            <a:chExt cx="311125" cy="315875"/>
          </a:xfrm>
          <a:solidFill>
            <a:srgbClr val="3F3533"/>
          </a:solidFill>
        </p:grpSpPr>
        <p:sp>
          <p:nvSpPr>
            <p:cNvPr id="14" name="Google Shape;7351;p145">
              <a:extLst>
                <a:ext uri="{FF2B5EF4-FFF2-40B4-BE49-F238E27FC236}">
                  <a16:creationId xmlns:a16="http://schemas.microsoft.com/office/drawing/2014/main" id="{4E882994-3291-AB16-936B-5758721A9809}"/>
                </a:ext>
              </a:extLst>
            </p:cNvPr>
            <p:cNvSpPr/>
            <p:nvPr/>
          </p:nvSpPr>
          <p:spPr>
            <a:xfrm>
              <a:off x="-59400775" y="4317350"/>
              <a:ext cx="89800" cy="82725"/>
            </a:xfrm>
            <a:custGeom>
              <a:avLst/>
              <a:gdLst/>
              <a:ahLst/>
              <a:cxnLst/>
              <a:rect l="l" t="t" r="r" b="b"/>
              <a:pathLst>
                <a:path w="3592" h="3309" extrusionOk="0">
                  <a:moveTo>
                    <a:pt x="1796" y="851"/>
                  </a:moveTo>
                  <a:cubicBezTo>
                    <a:pt x="2048" y="851"/>
                    <a:pt x="2237" y="1071"/>
                    <a:pt x="2237" y="1260"/>
                  </a:cubicBezTo>
                  <a:cubicBezTo>
                    <a:pt x="2237" y="1449"/>
                    <a:pt x="2048" y="1701"/>
                    <a:pt x="1796" y="1701"/>
                  </a:cubicBezTo>
                  <a:cubicBezTo>
                    <a:pt x="1576" y="1701"/>
                    <a:pt x="1418" y="1481"/>
                    <a:pt x="1418" y="1260"/>
                  </a:cubicBezTo>
                  <a:cubicBezTo>
                    <a:pt x="1418" y="1008"/>
                    <a:pt x="1576" y="851"/>
                    <a:pt x="1796" y="851"/>
                  </a:cubicBezTo>
                  <a:close/>
                  <a:moveTo>
                    <a:pt x="0" y="0"/>
                  </a:moveTo>
                  <a:lnTo>
                    <a:pt x="0" y="2079"/>
                  </a:lnTo>
                  <a:cubicBezTo>
                    <a:pt x="0" y="2741"/>
                    <a:pt x="536" y="3308"/>
                    <a:pt x="1229" y="3308"/>
                  </a:cubicBezTo>
                  <a:lnTo>
                    <a:pt x="2332" y="3308"/>
                  </a:lnTo>
                  <a:cubicBezTo>
                    <a:pt x="2993" y="3308"/>
                    <a:pt x="3592" y="2741"/>
                    <a:pt x="3592" y="2079"/>
                  </a:cubicBezTo>
                  <a:lnTo>
                    <a:pt x="3592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7352;p145">
              <a:extLst>
                <a:ext uri="{FF2B5EF4-FFF2-40B4-BE49-F238E27FC236}">
                  <a16:creationId xmlns:a16="http://schemas.microsoft.com/office/drawing/2014/main" id="{16157FB8-A80D-504A-FDAF-07D752254D99}"/>
                </a:ext>
              </a:extLst>
            </p:cNvPr>
            <p:cNvSpPr/>
            <p:nvPr/>
          </p:nvSpPr>
          <p:spPr>
            <a:xfrm>
              <a:off x="-59400000" y="4084200"/>
              <a:ext cx="89825" cy="212700"/>
            </a:xfrm>
            <a:custGeom>
              <a:avLst/>
              <a:gdLst/>
              <a:ahLst/>
              <a:cxnLst/>
              <a:rect l="l" t="t" r="r" b="b"/>
              <a:pathLst>
                <a:path w="3593" h="8508" extrusionOk="0">
                  <a:moveTo>
                    <a:pt x="1734" y="1607"/>
                  </a:moveTo>
                  <a:cubicBezTo>
                    <a:pt x="1923" y="1607"/>
                    <a:pt x="2175" y="1797"/>
                    <a:pt x="2175" y="2049"/>
                  </a:cubicBezTo>
                  <a:lnTo>
                    <a:pt x="2175" y="7278"/>
                  </a:lnTo>
                  <a:cubicBezTo>
                    <a:pt x="2175" y="7499"/>
                    <a:pt x="1986" y="7656"/>
                    <a:pt x="1734" y="7656"/>
                  </a:cubicBezTo>
                  <a:cubicBezTo>
                    <a:pt x="1513" y="7656"/>
                    <a:pt x="1356" y="7467"/>
                    <a:pt x="1356" y="7278"/>
                  </a:cubicBezTo>
                  <a:lnTo>
                    <a:pt x="1356" y="2049"/>
                  </a:lnTo>
                  <a:cubicBezTo>
                    <a:pt x="1356" y="1797"/>
                    <a:pt x="1545" y="1607"/>
                    <a:pt x="1734" y="1607"/>
                  </a:cubicBezTo>
                  <a:close/>
                  <a:moveTo>
                    <a:pt x="1230" y="1"/>
                  </a:moveTo>
                  <a:cubicBezTo>
                    <a:pt x="568" y="1"/>
                    <a:pt x="1" y="536"/>
                    <a:pt x="1" y="1198"/>
                  </a:cubicBezTo>
                  <a:lnTo>
                    <a:pt x="1" y="8507"/>
                  </a:lnTo>
                  <a:lnTo>
                    <a:pt x="3593" y="8507"/>
                  </a:lnTo>
                  <a:lnTo>
                    <a:pt x="3593" y="1198"/>
                  </a:lnTo>
                  <a:cubicBezTo>
                    <a:pt x="3561" y="536"/>
                    <a:pt x="2994" y="1"/>
                    <a:pt x="23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7353;p145">
              <a:extLst>
                <a:ext uri="{FF2B5EF4-FFF2-40B4-BE49-F238E27FC236}">
                  <a16:creationId xmlns:a16="http://schemas.microsoft.com/office/drawing/2014/main" id="{0A2E20F6-E956-C5AA-310B-479536917714}"/>
                </a:ext>
              </a:extLst>
            </p:cNvPr>
            <p:cNvSpPr/>
            <p:nvPr/>
          </p:nvSpPr>
          <p:spPr>
            <a:xfrm>
              <a:off x="-59290500" y="4317350"/>
              <a:ext cx="89800" cy="82725"/>
            </a:xfrm>
            <a:custGeom>
              <a:avLst/>
              <a:gdLst/>
              <a:ahLst/>
              <a:cxnLst/>
              <a:rect l="l" t="t" r="r" b="b"/>
              <a:pathLst>
                <a:path w="3592" h="3309" extrusionOk="0">
                  <a:moveTo>
                    <a:pt x="1796" y="851"/>
                  </a:moveTo>
                  <a:cubicBezTo>
                    <a:pt x="2048" y="851"/>
                    <a:pt x="2205" y="1071"/>
                    <a:pt x="2205" y="1260"/>
                  </a:cubicBezTo>
                  <a:cubicBezTo>
                    <a:pt x="2205" y="1449"/>
                    <a:pt x="2016" y="1701"/>
                    <a:pt x="1796" y="1701"/>
                  </a:cubicBezTo>
                  <a:cubicBezTo>
                    <a:pt x="1575" y="1701"/>
                    <a:pt x="1386" y="1481"/>
                    <a:pt x="1386" y="1260"/>
                  </a:cubicBezTo>
                  <a:cubicBezTo>
                    <a:pt x="1386" y="1008"/>
                    <a:pt x="1575" y="851"/>
                    <a:pt x="1796" y="851"/>
                  </a:cubicBezTo>
                  <a:close/>
                  <a:moveTo>
                    <a:pt x="0" y="0"/>
                  </a:moveTo>
                  <a:lnTo>
                    <a:pt x="0" y="2079"/>
                  </a:lnTo>
                  <a:cubicBezTo>
                    <a:pt x="0" y="2741"/>
                    <a:pt x="536" y="3308"/>
                    <a:pt x="1260" y="3308"/>
                  </a:cubicBezTo>
                  <a:lnTo>
                    <a:pt x="2363" y="3308"/>
                  </a:lnTo>
                  <a:cubicBezTo>
                    <a:pt x="3025" y="3308"/>
                    <a:pt x="3592" y="2741"/>
                    <a:pt x="3592" y="2079"/>
                  </a:cubicBezTo>
                  <a:lnTo>
                    <a:pt x="3592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7354;p145">
              <a:extLst>
                <a:ext uri="{FF2B5EF4-FFF2-40B4-BE49-F238E27FC236}">
                  <a16:creationId xmlns:a16="http://schemas.microsoft.com/office/drawing/2014/main" id="{3264F124-4A65-F294-0616-133EC81484A0}"/>
                </a:ext>
              </a:extLst>
            </p:cNvPr>
            <p:cNvSpPr/>
            <p:nvPr/>
          </p:nvSpPr>
          <p:spPr>
            <a:xfrm>
              <a:off x="-59290500" y="4084200"/>
              <a:ext cx="89800" cy="212700"/>
            </a:xfrm>
            <a:custGeom>
              <a:avLst/>
              <a:gdLst/>
              <a:ahLst/>
              <a:cxnLst/>
              <a:rect l="l" t="t" r="r" b="b"/>
              <a:pathLst>
                <a:path w="3592" h="8508" extrusionOk="0">
                  <a:moveTo>
                    <a:pt x="1796" y="1607"/>
                  </a:moveTo>
                  <a:cubicBezTo>
                    <a:pt x="2048" y="1607"/>
                    <a:pt x="2205" y="1797"/>
                    <a:pt x="2205" y="2049"/>
                  </a:cubicBezTo>
                  <a:lnTo>
                    <a:pt x="2205" y="7278"/>
                  </a:lnTo>
                  <a:cubicBezTo>
                    <a:pt x="2205" y="7499"/>
                    <a:pt x="2016" y="7656"/>
                    <a:pt x="1796" y="7656"/>
                  </a:cubicBezTo>
                  <a:cubicBezTo>
                    <a:pt x="1607" y="7656"/>
                    <a:pt x="1386" y="7467"/>
                    <a:pt x="1386" y="7278"/>
                  </a:cubicBezTo>
                  <a:lnTo>
                    <a:pt x="1386" y="2049"/>
                  </a:lnTo>
                  <a:cubicBezTo>
                    <a:pt x="1386" y="1797"/>
                    <a:pt x="1575" y="1607"/>
                    <a:pt x="1796" y="1607"/>
                  </a:cubicBezTo>
                  <a:close/>
                  <a:moveTo>
                    <a:pt x="1260" y="1"/>
                  </a:moveTo>
                  <a:cubicBezTo>
                    <a:pt x="599" y="1"/>
                    <a:pt x="0" y="536"/>
                    <a:pt x="0" y="1198"/>
                  </a:cubicBezTo>
                  <a:lnTo>
                    <a:pt x="0" y="8507"/>
                  </a:lnTo>
                  <a:lnTo>
                    <a:pt x="3592" y="8507"/>
                  </a:lnTo>
                  <a:lnTo>
                    <a:pt x="3592" y="1198"/>
                  </a:lnTo>
                  <a:cubicBezTo>
                    <a:pt x="3592" y="536"/>
                    <a:pt x="3025" y="1"/>
                    <a:pt x="23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7355;p145">
              <a:extLst>
                <a:ext uri="{FF2B5EF4-FFF2-40B4-BE49-F238E27FC236}">
                  <a16:creationId xmlns:a16="http://schemas.microsoft.com/office/drawing/2014/main" id="{B3239600-CE67-BA17-AA7B-4BE0BA83D4BF}"/>
                </a:ext>
              </a:extLst>
            </p:cNvPr>
            <p:cNvSpPr/>
            <p:nvPr/>
          </p:nvSpPr>
          <p:spPr>
            <a:xfrm>
              <a:off x="-59181025" y="4317350"/>
              <a:ext cx="89800" cy="82725"/>
            </a:xfrm>
            <a:custGeom>
              <a:avLst/>
              <a:gdLst/>
              <a:ahLst/>
              <a:cxnLst/>
              <a:rect l="l" t="t" r="r" b="b"/>
              <a:pathLst>
                <a:path w="3592" h="3309" extrusionOk="0">
                  <a:moveTo>
                    <a:pt x="1828" y="851"/>
                  </a:moveTo>
                  <a:cubicBezTo>
                    <a:pt x="2080" y="851"/>
                    <a:pt x="2269" y="1071"/>
                    <a:pt x="2269" y="1260"/>
                  </a:cubicBezTo>
                  <a:cubicBezTo>
                    <a:pt x="2269" y="1449"/>
                    <a:pt x="2080" y="1701"/>
                    <a:pt x="1828" y="1701"/>
                  </a:cubicBezTo>
                  <a:cubicBezTo>
                    <a:pt x="1607" y="1701"/>
                    <a:pt x="1450" y="1481"/>
                    <a:pt x="1450" y="1260"/>
                  </a:cubicBezTo>
                  <a:cubicBezTo>
                    <a:pt x="1450" y="1008"/>
                    <a:pt x="1607" y="851"/>
                    <a:pt x="1828" y="851"/>
                  </a:cubicBezTo>
                  <a:close/>
                  <a:moveTo>
                    <a:pt x="0" y="0"/>
                  </a:moveTo>
                  <a:lnTo>
                    <a:pt x="0" y="2079"/>
                  </a:lnTo>
                  <a:lnTo>
                    <a:pt x="32" y="2079"/>
                  </a:lnTo>
                  <a:cubicBezTo>
                    <a:pt x="32" y="2741"/>
                    <a:pt x="567" y="3308"/>
                    <a:pt x="1261" y="3308"/>
                  </a:cubicBezTo>
                  <a:lnTo>
                    <a:pt x="2363" y="3308"/>
                  </a:lnTo>
                  <a:cubicBezTo>
                    <a:pt x="3025" y="3308"/>
                    <a:pt x="3592" y="2741"/>
                    <a:pt x="3592" y="2079"/>
                  </a:cubicBezTo>
                  <a:lnTo>
                    <a:pt x="3592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7356;p145">
              <a:extLst>
                <a:ext uri="{FF2B5EF4-FFF2-40B4-BE49-F238E27FC236}">
                  <a16:creationId xmlns:a16="http://schemas.microsoft.com/office/drawing/2014/main" id="{54B94F36-884F-B085-AD5C-5A33F35FE3D2}"/>
                </a:ext>
              </a:extLst>
            </p:cNvPr>
            <p:cNvSpPr/>
            <p:nvPr/>
          </p:nvSpPr>
          <p:spPr>
            <a:xfrm>
              <a:off x="-59179450" y="4084200"/>
              <a:ext cx="89800" cy="212700"/>
            </a:xfrm>
            <a:custGeom>
              <a:avLst/>
              <a:gdLst/>
              <a:ahLst/>
              <a:cxnLst/>
              <a:rect l="l" t="t" r="r" b="b"/>
              <a:pathLst>
                <a:path w="3592" h="8508" extrusionOk="0">
                  <a:moveTo>
                    <a:pt x="1733" y="1607"/>
                  </a:moveTo>
                  <a:cubicBezTo>
                    <a:pt x="1922" y="1607"/>
                    <a:pt x="2174" y="1797"/>
                    <a:pt x="2174" y="2049"/>
                  </a:cubicBezTo>
                  <a:lnTo>
                    <a:pt x="2174" y="7278"/>
                  </a:lnTo>
                  <a:cubicBezTo>
                    <a:pt x="2174" y="7499"/>
                    <a:pt x="1985" y="7656"/>
                    <a:pt x="1733" y="7656"/>
                  </a:cubicBezTo>
                  <a:cubicBezTo>
                    <a:pt x="1513" y="7656"/>
                    <a:pt x="1355" y="7467"/>
                    <a:pt x="1355" y="7278"/>
                  </a:cubicBezTo>
                  <a:lnTo>
                    <a:pt x="1355" y="2049"/>
                  </a:lnTo>
                  <a:cubicBezTo>
                    <a:pt x="1355" y="1797"/>
                    <a:pt x="1544" y="1607"/>
                    <a:pt x="1733" y="1607"/>
                  </a:cubicBezTo>
                  <a:close/>
                  <a:moveTo>
                    <a:pt x="1229" y="1"/>
                  </a:moveTo>
                  <a:cubicBezTo>
                    <a:pt x="567" y="1"/>
                    <a:pt x="0" y="536"/>
                    <a:pt x="0" y="1198"/>
                  </a:cubicBezTo>
                  <a:lnTo>
                    <a:pt x="0" y="8507"/>
                  </a:lnTo>
                  <a:lnTo>
                    <a:pt x="3592" y="8507"/>
                  </a:lnTo>
                  <a:lnTo>
                    <a:pt x="3592" y="1198"/>
                  </a:lnTo>
                  <a:cubicBezTo>
                    <a:pt x="3560" y="536"/>
                    <a:pt x="2993" y="1"/>
                    <a:pt x="23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96194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3">
          <a:extLst>
            <a:ext uri="{FF2B5EF4-FFF2-40B4-BE49-F238E27FC236}">
              <a16:creationId xmlns:a16="http://schemas.microsoft.com/office/drawing/2014/main" id="{36FB62E2-1C79-D2BC-CBD3-6BDA3EB9C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Google Shape;884;p90">
            <a:extLst>
              <a:ext uri="{FF2B5EF4-FFF2-40B4-BE49-F238E27FC236}">
                <a16:creationId xmlns:a16="http://schemas.microsoft.com/office/drawing/2014/main" id="{68106351-95BB-E638-5618-3D1AF56CA7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665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/>
              <a:t>Данные на </a:t>
            </a:r>
            <a:r>
              <a:rPr lang="ru-RU" dirty="0"/>
              <a:t>выходе</a:t>
            </a:r>
            <a:r>
              <a:rPr lang="en" dirty="0"/>
              <a:t> шага</a:t>
            </a:r>
            <a:endParaRPr dirty="0"/>
          </a:p>
        </p:txBody>
      </p:sp>
      <p:sp>
        <p:nvSpPr>
          <p:cNvPr id="885" name="Google Shape;885;p90">
            <a:extLst>
              <a:ext uri="{FF2B5EF4-FFF2-40B4-BE49-F238E27FC236}">
                <a16:creationId xmlns:a16="http://schemas.microsoft.com/office/drawing/2014/main" id="{C9891020-2094-C162-1D2A-82CA415D676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575325" y="1877850"/>
            <a:ext cx="3993340" cy="4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DATA_QUALITY_OUTPUT</a:t>
            </a:r>
            <a:endParaRPr dirty="0"/>
          </a:p>
        </p:txBody>
      </p:sp>
      <p:sp>
        <p:nvSpPr>
          <p:cNvPr id="886" name="Google Shape;886;p90">
            <a:extLst>
              <a:ext uri="{FF2B5EF4-FFF2-40B4-BE49-F238E27FC236}">
                <a16:creationId xmlns:a16="http://schemas.microsoft.com/office/drawing/2014/main" id="{672F34F5-67AD-9D59-EEC9-F7DB87C10F35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2371505" y="2415151"/>
            <a:ext cx="4400979" cy="8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900" b="1" dirty="0"/>
              <a:t>PRODUCT_LVL_ID</a:t>
            </a:r>
            <a:r>
              <a:rPr lang="en-US" sz="900" dirty="0"/>
              <a:t> – </a:t>
            </a:r>
            <a:r>
              <a:rPr lang="ru-RU" sz="900" dirty="0"/>
              <a:t>идентификатор продукта, где найдена ошибка</a:t>
            </a:r>
          </a:p>
          <a:p>
            <a:r>
              <a:rPr lang="en-US" sz="900" b="1" dirty="0"/>
              <a:t>LOCATION_LVL_ID</a:t>
            </a:r>
            <a:r>
              <a:rPr lang="en-US" sz="900" dirty="0"/>
              <a:t> – </a:t>
            </a:r>
            <a:r>
              <a:rPr lang="ru-RU" sz="900" dirty="0"/>
              <a:t>идентификатор локации (магазин/склад)</a:t>
            </a:r>
          </a:p>
          <a:p>
            <a:r>
              <a:rPr lang="en-US" sz="900" b="1" dirty="0"/>
              <a:t>CUSTOMER_LVL_ID</a:t>
            </a:r>
            <a:r>
              <a:rPr lang="en-US" sz="900" dirty="0"/>
              <a:t> – </a:t>
            </a:r>
            <a:r>
              <a:rPr lang="ru-RU" sz="900" dirty="0"/>
              <a:t>идентификатор клиента (если применимо)</a:t>
            </a:r>
          </a:p>
          <a:p>
            <a:r>
              <a:rPr lang="en-US" sz="900" b="1" dirty="0"/>
              <a:t>DISTR_CHANNEL_LVL_ID</a:t>
            </a:r>
            <a:r>
              <a:rPr lang="en-US" sz="900" dirty="0"/>
              <a:t> – </a:t>
            </a:r>
            <a:r>
              <a:rPr lang="ru-RU" sz="900" dirty="0"/>
              <a:t>идентификатор канала дистрибуции</a:t>
            </a:r>
          </a:p>
          <a:p>
            <a:r>
              <a:rPr lang="en-US" sz="900" b="1" dirty="0"/>
              <a:t>PRODUCT_LVL / LOCATION_LVL / CUSTOMER_LVL / DISTR_CHANNEL_LVL</a:t>
            </a:r>
            <a:r>
              <a:rPr lang="en-US" sz="900" dirty="0"/>
              <a:t> – </a:t>
            </a:r>
            <a:r>
              <a:rPr lang="ru-RU" sz="900" dirty="0"/>
              <a:t>уровень иерархии, на котором зафиксирована ошибка</a:t>
            </a:r>
          </a:p>
          <a:p>
            <a:r>
              <a:rPr lang="en-US" sz="900" b="1" dirty="0"/>
              <a:t>PERIOD_DT</a:t>
            </a:r>
            <a:r>
              <a:rPr lang="en-US" sz="900" dirty="0"/>
              <a:t> – </a:t>
            </a:r>
            <a:r>
              <a:rPr lang="ru-RU" sz="900" dirty="0"/>
              <a:t>дата или период, к которому относится ошибка</a:t>
            </a:r>
          </a:p>
          <a:p>
            <a:r>
              <a:rPr lang="en-US" sz="900" b="1" dirty="0"/>
              <a:t>INPUT_TABLE</a:t>
            </a:r>
            <a:r>
              <a:rPr lang="en-US" sz="900" dirty="0"/>
              <a:t> – </a:t>
            </a:r>
            <a:r>
              <a:rPr lang="ru-RU" sz="900" dirty="0"/>
              <a:t>исходная таблица, из которой пришла проблемная строка</a:t>
            </a:r>
            <a:endParaRPr lang="en-US" sz="900" dirty="0"/>
          </a:p>
          <a:p>
            <a:r>
              <a:rPr lang="en-US" sz="900" b="1" dirty="0"/>
              <a:t>INPUT_COLUMN</a:t>
            </a:r>
            <a:r>
              <a:rPr lang="en-US" sz="900" dirty="0"/>
              <a:t> – </a:t>
            </a:r>
            <a:r>
              <a:rPr lang="ru-RU" sz="900" dirty="0"/>
              <a:t>столбец, в котором обнаружена проблема</a:t>
            </a:r>
          </a:p>
          <a:p>
            <a:r>
              <a:rPr lang="en-US" sz="900" b="1" dirty="0"/>
              <a:t>INPUT_VALUE</a:t>
            </a:r>
            <a:r>
              <a:rPr lang="en-US" sz="900" dirty="0"/>
              <a:t> – </a:t>
            </a:r>
            <a:r>
              <a:rPr lang="ru-RU" sz="900" dirty="0"/>
              <a:t>проблемное значение или составной ключ</a:t>
            </a:r>
          </a:p>
          <a:p>
            <a:r>
              <a:rPr lang="en-US" sz="900" b="1" dirty="0"/>
              <a:t>WARNING_TYPE</a:t>
            </a:r>
            <a:r>
              <a:rPr lang="en-US" sz="900" dirty="0"/>
              <a:t> – </a:t>
            </a:r>
            <a:r>
              <a:rPr lang="ru-RU" sz="900" dirty="0"/>
              <a:t>тип ошибки (например, </a:t>
            </a:r>
            <a:r>
              <a:rPr lang="en-US" sz="900" dirty="0"/>
              <a:t>NEGATIVE_VALUE, MISSING_KEY, TIME_CROSS_MISSING)</a:t>
            </a:r>
          </a:p>
          <a:p>
            <a:r>
              <a:rPr lang="en-US" sz="900" b="1" dirty="0"/>
              <a:t>WARNING</a:t>
            </a:r>
            <a:r>
              <a:rPr lang="en-US" sz="900" dirty="0"/>
              <a:t> – </a:t>
            </a:r>
            <a:r>
              <a:rPr lang="ru-RU" sz="900" dirty="0"/>
              <a:t>краткое текстовое описание проблемы (для человека)</a:t>
            </a:r>
          </a:p>
          <a:p>
            <a:pPr marL="0" lvl="0" indent="0"/>
            <a:endParaRPr sz="900" dirty="0"/>
          </a:p>
        </p:txBody>
      </p:sp>
      <p:grpSp>
        <p:nvGrpSpPr>
          <p:cNvPr id="29" name="Google Shape;9446;p149">
            <a:extLst>
              <a:ext uri="{FF2B5EF4-FFF2-40B4-BE49-F238E27FC236}">
                <a16:creationId xmlns:a16="http://schemas.microsoft.com/office/drawing/2014/main" id="{E1BC76BF-BFEC-0C4A-7BFA-A7D9A5885F81}"/>
              </a:ext>
            </a:extLst>
          </p:cNvPr>
          <p:cNvGrpSpPr/>
          <p:nvPr/>
        </p:nvGrpSpPr>
        <p:grpSpPr>
          <a:xfrm>
            <a:off x="4308812" y="1405697"/>
            <a:ext cx="526363" cy="472153"/>
            <a:chOff x="-3771675" y="3971775"/>
            <a:chExt cx="291300" cy="292025"/>
          </a:xfrm>
          <a:solidFill>
            <a:srgbClr val="4A413F"/>
          </a:solidFill>
        </p:grpSpPr>
        <p:sp>
          <p:nvSpPr>
            <p:cNvPr id="30" name="Google Shape;9447;p149">
              <a:extLst>
                <a:ext uri="{FF2B5EF4-FFF2-40B4-BE49-F238E27FC236}">
                  <a16:creationId xmlns:a16="http://schemas.microsoft.com/office/drawing/2014/main" id="{53B2F80E-5B01-2B2B-7D4F-2E16953BD01E}"/>
                </a:ext>
              </a:extLst>
            </p:cNvPr>
            <p:cNvSpPr/>
            <p:nvPr/>
          </p:nvSpPr>
          <p:spPr>
            <a:xfrm>
              <a:off x="-3770100" y="3971775"/>
              <a:ext cx="218975" cy="66775"/>
            </a:xfrm>
            <a:custGeom>
              <a:avLst/>
              <a:gdLst/>
              <a:ahLst/>
              <a:cxnLst/>
              <a:rect l="l" t="t" r="r" b="b"/>
              <a:pathLst>
                <a:path w="8759" h="2671" extrusionOk="0">
                  <a:moveTo>
                    <a:pt x="4391" y="0"/>
                  </a:moveTo>
                  <a:cubicBezTo>
                    <a:pt x="2410" y="0"/>
                    <a:pt x="426" y="449"/>
                    <a:pt x="0" y="1347"/>
                  </a:cubicBezTo>
                  <a:cubicBezTo>
                    <a:pt x="426" y="2229"/>
                    <a:pt x="2410" y="2670"/>
                    <a:pt x="4391" y="2670"/>
                  </a:cubicBezTo>
                  <a:cubicBezTo>
                    <a:pt x="6372" y="2670"/>
                    <a:pt x="8349" y="2229"/>
                    <a:pt x="8759" y="1347"/>
                  </a:cubicBezTo>
                  <a:cubicBezTo>
                    <a:pt x="8349" y="449"/>
                    <a:pt x="6372" y="0"/>
                    <a:pt x="4391" y="0"/>
                  </a:cubicBezTo>
                  <a:close/>
                </a:path>
              </a:pathLst>
            </a:custGeom>
            <a:grpFill/>
            <a:ln>
              <a:solidFill>
                <a:srgbClr val="3F3533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9448;p149">
              <a:extLst>
                <a:ext uri="{FF2B5EF4-FFF2-40B4-BE49-F238E27FC236}">
                  <a16:creationId xmlns:a16="http://schemas.microsoft.com/office/drawing/2014/main" id="{58E636B3-9C24-AFF9-2FAA-3925DC8EAD82}"/>
                </a:ext>
              </a:extLst>
            </p:cNvPr>
            <p:cNvSpPr/>
            <p:nvPr/>
          </p:nvSpPr>
          <p:spPr>
            <a:xfrm>
              <a:off x="-3771675" y="4030650"/>
              <a:ext cx="222125" cy="78000"/>
            </a:xfrm>
            <a:custGeom>
              <a:avLst/>
              <a:gdLst/>
              <a:ahLst/>
              <a:cxnLst/>
              <a:rect l="l" t="t" r="r" b="b"/>
              <a:pathLst>
                <a:path w="8885" h="3120" extrusionOk="0">
                  <a:moveTo>
                    <a:pt x="0" y="0"/>
                  </a:moveTo>
                  <a:lnTo>
                    <a:pt x="0" y="1418"/>
                  </a:lnTo>
                  <a:cubicBezTo>
                    <a:pt x="0" y="2521"/>
                    <a:pt x="2048" y="3088"/>
                    <a:pt x="4127" y="3119"/>
                  </a:cubicBezTo>
                  <a:cubicBezTo>
                    <a:pt x="4915" y="1891"/>
                    <a:pt x="6301" y="1103"/>
                    <a:pt x="7877" y="1103"/>
                  </a:cubicBezTo>
                  <a:cubicBezTo>
                    <a:pt x="8223" y="1103"/>
                    <a:pt x="8570" y="1135"/>
                    <a:pt x="8885" y="1229"/>
                  </a:cubicBezTo>
                  <a:lnTo>
                    <a:pt x="8885" y="0"/>
                  </a:lnTo>
                  <a:cubicBezTo>
                    <a:pt x="7908" y="788"/>
                    <a:pt x="6112" y="1072"/>
                    <a:pt x="4443" y="1072"/>
                  </a:cubicBezTo>
                  <a:cubicBezTo>
                    <a:pt x="2804" y="1072"/>
                    <a:pt x="977" y="757"/>
                    <a:pt x="0" y="0"/>
                  </a:cubicBezTo>
                  <a:close/>
                </a:path>
              </a:pathLst>
            </a:custGeom>
            <a:grpFill/>
            <a:ln>
              <a:solidFill>
                <a:srgbClr val="3F3533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9449;p149">
              <a:extLst>
                <a:ext uri="{FF2B5EF4-FFF2-40B4-BE49-F238E27FC236}">
                  <a16:creationId xmlns:a16="http://schemas.microsoft.com/office/drawing/2014/main" id="{B4597428-42E9-7B0A-F2FB-8CE4A0238D28}"/>
                </a:ext>
              </a:extLst>
            </p:cNvPr>
            <p:cNvSpPr/>
            <p:nvPr/>
          </p:nvSpPr>
          <p:spPr>
            <a:xfrm>
              <a:off x="-3669425" y="4074750"/>
              <a:ext cx="189050" cy="189050"/>
            </a:xfrm>
            <a:custGeom>
              <a:avLst/>
              <a:gdLst/>
              <a:ahLst/>
              <a:cxnLst/>
              <a:rect l="l" t="t" r="r" b="b"/>
              <a:pathLst>
                <a:path w="7562" h="7562" extrusionOk="0">
                  <a:moveTo>
                    <a:pt x="5501" y="2732"/>
                  </a:moveTo>
                  <a:cubicBezTo>
                    <a:pt x="5748" y="2732"/>
                    <a:pt x="6008" y="3067"/>
                    <a:pt x="5766" y="3309"/>
                  </a:cubicBezTo>
                  <a:lnTo>
                    <a:pt x="3718" y="5356"/>
                  </a:lnTo>
                  <a:cubicBezTo>
                    <a:pt x="3655" y="5420"/>
                    <a:pt x="3568" y="5451"/>
                    <a:pt x="3482" y="5451"/>
                  </a:cubicBezTo>
                  <a:cubicBezTo>
                    <a:pt x="3395" y="5451"/>
                    <a:pt x="3308" y="5420"/>
                    <a:pt x="3245" y="5356"/>
                  </a:cubicBezTo>
                  <a:lnTo>
                    <a:pt x="1859" y="4002"/>
                  </a:lnTo>
                  <a:cubicBezTo>
                    <a:pt x="1617" y="3760"/>
                    <a:pt x="1840" y="3425"/>
                    <a:pt x="2099" y="3425"/>
                  </a:cubicBezTo>
                  <a:cubicBezTo>
                    <a:pt x="2177" y="3425"/>
                    <a:pt x="2259" y="3456"/>
                    <a:pt x="2332" y="3529"/>
                  </a:cubicBezTo>
                  <a:lnTo>
                    <a:pt x="3466" y="4663"/>
                  </a:lnTo>
                  <a:lnTo>
                    <a:pt x="5293" y="2836"/>
                  </a:lnTo>
                  <a:cubicBezTo>
                    <a:pt x="5352" y="2763"/>
                    <a:pt x="5426" y="2732"/>
                    <a:pt x="5501" y="2732"/>
                  </a:cubicBezTo>
                  <a:close/>
                  <a:moveTo>
                    <a:pt x="3781" y="1"/>
                  </a:moveTo>
                  <a:cubicBezTo>
                    <a:pt x="1702" y="1"/>
                    <a:pt x="0" y="1702"/>
                    <a:pt x="0" y="3781"/>
                  </a:cubicBezTo>
                  <a:cubicBezTo>
                    <a:pt x="0" y="5892"/>
                    <a:pt x="1702" y="7562"/>
                    <a:pt x="3781" y="7562"/>
                  </a:cubicBezTo>
                  <a:cubicBezTo>
                    <a:pt x="5860" y="7562"/>
                    <a:pt x="7562" y="5892"/>
                    <a:pt x="7562" y="3781"/>
                  </a:cubicBezTo>
                  <a:cubicBezTo>
                    <a:pt x="7562" y="1702"/>
                    <a:pt x="5860" y="1"/>
                    <a:pt x="3781" y="1"/>
                  </a:cubicBezTo>
                  <a:close/>
                </a:path>
              </a:pathLst>
            </a:custGeom>
            <a:grpFill/>
            <a:ln>
              <a:solidFill>
                <a:srgbClr val="3F3533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9450;p149">
              <a:extLst>
                <a:ext uri="{FF2B5EF4-FFF2-40B4-BE49-F238E27FC236}">
                  <a16:creationId xmlns:a16="http://schemas.microsoft.com/office/drawing/2014/main" id="{2F57854E-5A96-6FEB-3095-B361EDB854DA}"/>
                </a:ext>
              </a:extLst>
            </p:cNvPr>
            <p:cNvSpPr/>
            <p:nvPr/>
          </p:nvSpPr>
          <p:spPr>
            <a:xfrm>
              <a:off x="-3771675" y="4099950"/>
              <a:ext cx="94525" cy="76425"/>
            </a:xfrm>
            <a:custGeom>
              <a:avLst/>
              <a:gdLst/>
              <a:ahLst/>
              <a:cxnLst/>
              <a:rect l="l" t="t" r="r" b="b"/>
              <a:pathLst>
                <a:path w="3781" h="3057" extrusionOk="0">
                  <a:moveTo>
                    <a:pt x="0" y="1"/>
                  </a:moveTo>
                  <a:lnTo>
                    <a:pt x="0" y="1419"/>
                  </a:lnTo>
                  <a:cubicBezTo>
                    <a:pt x="0" y="2364"/>
                    <a:pt x="1607" y="2899"/>
                    <a:pt x="3434" y="3057"/>
                  </a:cubicBezTo>
                  <a:cubicBezTo>
                    <a:pt x="3371" y="2364"/>
                    <a:pt x="3497" y="1671"/>
                    <a:pt x="3781" y="1040"/>
                  </a:cubicBezTo>
                  <a:cubicBezTo>
                    <a:pt x="2332" y="977"/>
                    <a:pt x="819" y="662"/>
                    <a:pt x="0" y="1"/>
                  </a:cubicBezTo>
                  <a:close/>
                </a:path>
              </a:pathLst>
            </a:custGeom>
            <a:grpFill/>
            <a:ln>
              <a:solidFill>
                <a:srgbClr val="3F3533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9451;p149">
              <a:extLst>
                <a:ext uri="{FF2B5EF4-FFF2-40B4-BE49-F238E27FC236}">
                  <a16:creationId xmlns:a16="http://schemas.microsoft.com/office/drawing/2014/main" id="{4A03383E-ADB7-84F1-DFE3-8D422F7E71CB}"/>
                </a:ext>
              </a:extLst>
            </p:cNvPr>
            <p:cNvSpPr/>
            <p:nvPr/>
          </p:nvSpPr>
          <p:spPr>
            <a:xfrm>
              <a:off x="-3771675" y="4167700"/>
              <a:ext cx="135500" cy="95325"/>
            </a:xfrm>
            <a:custGeom>
              <a:avLst/>
              <a:gdLst/>
              <a:ahLst/>
              <a:cxnLst/>
              <a:rect l="l" t="t" r="r" b="b"/>
              <a:pathLst>
                <a:path w="5420" h="3813" extrusionOk="0">
                  <a:moveTo>
                    <a:pt x="0" y="0"/>
                  </a:moveTo>
                  <a:lnTo>
                    <a:pt x="0" y="2111"/>
                  </a:lnTo>
                  <a:cubicBezTo>
                    <a:pt x="0" y="3277"/>
                    <a:pt x="2237" y="3812"/>
                    <a:pt x="4443" y="3812"/>
                  </a:cubicBezTo>
                  <a:cubicBezTo>
                    <a:pt x="4789" y="3812"/>
                    <a:pt x="5104" y="3812"/>
                    <a:pt x="5419" y="3781"/>
                  </a:cubicBezTo>
                  <a:cubicBezTo>
                    <a:pt x="4474" y="3151"/>
                    <a:pt x="3781" y="2206"/>
                    <a:pt x="3529" y="1071"/>
                  </a:cubicBezTo>
                  <a:cubicBezTo>
                    <a:pt x="2174" y="977"/>
                    <a:pt x="788" y="662"/>
                    <a:pt x="0" y="0"/>
                  </a:cubicBezTo>
                  <a:close/>
                </a:path>
              </a:pathLst>
            </a:custGeom>
            <a:grpFill/>
            <a:ln>
              <a:solidFill>
                <a:srgbClr val="3F3533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499146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3">
          <a:extLst>
            <a:ext uri="{FF2B5EF4-FFF2-40B4-BE49-F238E27FC236}">
              <a16:creationId xmlns:a16="http://schemas.microsoft.com/office/drawing/2014/main" id="{66E768E8-71C9-C38C-0D80-B32EBEF3A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42B0CD18-63CC-60C7-A377-C57D9F311971}"/>
              </a:ext>
            </a:extLst>
          </p:cNvPr>
          <p:cNvSpPr txBox="1"/>
          <p:nvPr/>
        </p:nvSpPr>
        <p:spPr>
          <a:xfrm>
            <a:off x="2582406" y="2110085"/>
            <a:ext cx="465336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5400" dirty="0">
                <a:latin typeface="AlphabetSoup Tilt BT" panose="04020905020B06060204" pitchFamily="82" charset="0"/>
              </a:rPr>
              <a:t>Live Demo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36423812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3">
          <a:extLst>
            <a:ext uri="{FF2B5EF4-FFF2-40B4-BE49-F238E27FC236}">
              <a16:creationId xmlns:a16="http://schemas.microsoft.com/office/drawing/2014/main" id="{C9F98041-52B3-FEE3-A281-29BBBC5E5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61">
            <a:extLst>
              <a:ext uri="{FF2B5EF4-FFF2-40B4-BE49-F238E27FC236}">
                <a16:creationId xmlns:a16="http://schemas.microsoft.com/office/drawing/2014/main" id="{FE5D4F04-56C8-B14F-B7A4-E1C647D80D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711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Заключение</a:t>
            </a:r>
            <a:endParaRPr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02A81C-3FFD-5FA2-DAE4-D61495A5E7D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712788" y="1366729"/>
            <a:ext cx="8113497" cy="31085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ru-RU" altLang="en-US" sz="1400" b="1" dirty="0">
                <a:solidFill>
                  <a:schemeClr val="dk1"/>
                </a:solidFill>
              </a:rPr>
              <a:t>Выводы:</a:t>
            </a:r>
            <a:endParaRPr lang="en-US" altLang="en-US" sz="1400" b="1" dirty="0">
              <a:solidFill>
                <a:schemeClr val="dk1"/>
              </a:solidFill>
            </a:endParaRPr>
          </a:p>
          <a:p>
            <a:pPr marL="17145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1400" dirty="0" err="1">
                <a:solidFill>
                  <a:schemeClr val="dk1"/>
                </a:solidFill>
              </a:rPr>
              <a:t>Реализовал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модуль</a:t>
            </a:r>
            <a:r>
              <a:rPr lang="en-US" altLang="en-US" sz="1400" dirty="0">
                <a:solidFill>
                  <a:schemeClr val="dk1"/>
                </a:solidFill>
              </a:rPr>
              <a:t> DQ-</a:t>
            </a:r>
            <a:r>
              <a:rPr lang="en-US" altLang="en-US" sz="1400" dirty="0" err="1">
                <a:solidFill>
                  <a:schemeClr val="dk1"/>
                </a:solidFill>
              </a:rPr>
              <a:t>проверок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входных</a:t>
            </a:r>
            <a:r>
              <a:rPr lang="en-US" altLang="en-US" sz="1400" dirty="0">
                <a:solidFill>
                  <a:schemeClr val="dk1"/>
                </a:solidFill>
              </a:rPr>
              <a:t> DDS-</a:t>
            </a:r>
            <a:r>
              <a:rPr lang="en-US" altLang="en-US" sz="1400" dirty="0" err="1">
                <a:solidFill>
                  <a:schemeClr val="dk1"/>
                </a:solidFill>
              </a:rPr>
              <a:t>таблиц</a:t>
            </a:r>
            <a:r>
              <a:rPr lang="en-US" altLang="en-US" sz="1400" dirty="0">
                <a:solidFill>
                  <a:schemeClr val="dk1"/>
                </a:solidFill>
              </a:rPr>
              <a:t>, </a:t>
            </a:r>
            <a:r>
              <a:rPr lang="en-US" altLang="en-US" sz="1400" dirty="0" err="1">
                <a:solidFill>
                  <a:schemeClr val="dk1"/>
                </a:solidFill>
              </a:rPr>
              <a:t>который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автоматически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ищет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отрицательные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значения</a:t>
            </a:r>
            <a:r>
              <a:rPr lang="en-US" altLang="en-US" sz="1400" dirty="0">
                <a:solidFill>
                  <a:schemeClr val="dk1"/>
                </a:solidFill>
              </a:rPr>
              <a:t>, </a:t>
            </a:r>
            <a:r>
              <a:rPr lang="en-US" altLang="en-US" sz="1400" dirty="0" err="1">
                <a:solidFill>
                  <a:schemeClr val="dk1"/>
                </a:solidFill>
              </a:rPr>
              <a:t>несогласованные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ключи</a:t>
            </a:r>
            <a:r>
              <a:rPr lang="en-US" altLang="en-US" sz="1400" dirty="0">
                <a:solidFill>
                  <a:schemeClr val="dk1"/>
                </a:solidFill>
              </a:rPr>
              <a:t> и </a:t>
            </a:r>
            <a:r>
              <a:rPr lang="en-US" altLang="en-US" sz="1400" dirty="0" err="1">
                <a:solidFill>
                  <a:schemeClr val="dk1"/>
                </a:solidFill>
              </a:rPr>
              <a:t>временные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провалы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между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фактами</a:t>
            </a:r>
            <a:r>
              <a:rPr lang="en-US" altLang="en-US" sz="1400" dirty="0">
                <a:solidFill>
                  <a:schemeClr val="dk1"/>
                </a:solidFill>
              </a:rPr>
              <a:t>.</a:t>
            </a:r>
          </a:p>
          <a:p>
            <a:pPr marL="17145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1400" dirty="0" err="1">
                <a:solidFill>
                  <a:schemeClr val="dk1"/>
                </a:solidFill>
              </a:rPr>
              <a:t>Сформировал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единый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выходной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отчёт</a:t>
            </a:r>
            <a:r>
              <a:rPr lang="en-US" altLang="en-US" sz="1400" dirty="0">
                <a:solidFill>
                  <a:schemeClr val="dk1"/>
                </a:solidFill>
              </a:rPr>
              <a:t> DATA_QUALITY_OUTPUT, </a:t>
            </a:r>
            <a:r>
              <a:rPr lang="en-US" altLang="en-US" sz="1400" dirty="0" err="1">
                <a:solidFill>
                  <a:schemeClr val="dk1"/>
                </a:solidFill>
              </a:rPr>
              <a:t>где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каждая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строка</a:t>
            </a:r>
            <a:r>
              <a:rPr lang="en-US" altLang="en-US" sz="1400" dirty="0">
                <a:solidFill>
                  <a:schemeClr val="dk1"/>
                </a:solidFill>
              </a:rPr>
              <a:t> — </a:t>
            </a:r>
            <a:r>
              <a:rPr lang="en-US" altLang="en-US" sz="1400" dirty="0" err="1">
                <a:solidFill>
                  <a:schemeClr val="dk1"/>
                </a:solidFill>
              </a:rPr>
              <a:t>конкретная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проблема</a:t>
            </a:r>
            <a:r>
              <a:rPr lang="en-US" altLang="en-US" sz="1400" dirty="0">
                <a:solidFill>
                  <a:schemeClr val="dk1"/>
                </a:solidFill>
              </a:rPr>
              <a:t> с </a:t>
            </a:r>
            <a:r>
              <a:rPr lang="en-US" altLang="en-US" sz="1400" dirty="0" err="1">
                <a:solidFill>
                  <a:schemeClr val="dk1"/>
                </a:solidFill>
              </a:rPr>
              <a:t>указанием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объекта</a:t>
            </a:r>
            <a:r>
              <a:rPr lang="en-US" altLang="en-US" sz="1400" dirty="0">
                <a:solidFill>
                  <a:schemeClr val="dk1"/>
                </a:solidFill>
              </a:rPr>
              <a:t>, </a:t>
            </a:r>
            <a:r>
              <a:rPr lang="en-US" altLang="en-US" sz="1400" dirty="0" err="1">
                <a:solidFill>
                  <a:schemeClr val="dk1"/>
                </a:solidFill>
              </a:rPr>
              <a:t>периода</a:t>
            </a:r>
            <a:r>
              <a:rPr lang="en-US" altLang="en-US" sz="1400" dirty="0">
                <a:solidFill>
                  <a:schemeClr val="dk1"/>
                </a:solidFill>
              </a:rPr>
              <a:t>, </a:t>
            </a:r>
            <a:r>
              <a:rPr lang="en-US" altLang="en-US" sz="1400" dirty="0" err="1">
                <a:solidFill>
                  <a:schemeClr val="dk1"/>
                </a:solidFill>
              </a:rPr>
              <a:t>таблицы</a:t>
            </a:r>
            <a:r>
              <a:rPr lang="en-US" altLang="en-US" sz="1400" dirty="0">
                <a:solidFill>
                  <a:schemeClr val="dk1"/>
                </a:solidFill>
              </a:rPr>
              <a:t> и </a:t>
            </a:r>
            <a:r>
              <a:rPr lang="en-US" altLang="en-US" sz="1400" dirty="0" err="1">
                <a:solidFill>
                  <a:schemeClr val="dk1"/>
                </a:solidFill>
              </a:rPr>
              <a:t>типа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ошибки</a:t>
            </a:r>
            <a:r>
              <a:rPr lang="en-US" altLang="en-US" sz="1400" dirty="0">
                <a:solidFill>
                  <a:schemeClr val="dk1"/>
                </a:solidFill>
              </a:rPr>
              <a:t>.</a:t>
            </a:r>
          </a:p>
          <a:p>
            <a:pPr marL="17145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1400" dirty="0" err="1">
                <a:solidFill>
                  <a:schemeClr val="dk1"/>
                </a:solidFill>
              </a:rPr>
              <a:t>Проверил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работу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на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синтетических</a:t>
            </a:r>
            <a:r>
              <a:rPr lang="en-US" altLang="en-US" sz="1400" dirty="0">
                <a:solidFill>
                  <a:schemeClr val="dk1"/>
                </a:solidFill>
              </a:rPr>
              <a:t> и </a:t>
            </a:r>
            <a:r>
              <a:rPr lang="en-US" altLang="en-US" sz="1400" dirty="0" err="1">
                <a:solidFill>
                  <a:schemeClr val="dk1"/>
                </a:solidFill>
              </a:rPr>
              <a:t>реальных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данных</a:t>
            </a:r>
            <a:r>
              <a:rPr lang="en-US" altLang="en-US" sz="1400" dirty="0">
                <a:solidFill>
                  <a:schemeClr val="dk1"/>
                </a:solidFill>
              </a:rPr>
              <a:t>, </a:t>
            </a:r>
            <a:r>
              <a:rPr lang="en-US" altLang="en-US" sz="1400" dirty="0" err="1">
                <a:solidFill>
                  <a:schemeClr val="dk1"/>
                </a:solidFill>
              </a:rPr>
              <a:t>построили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агрегаты</a:t>
            </a:r>
            <a:r>
              <a:rPr lang="en-US" altLang="en-US" sz="1400" dirty="0">
                <a:solidFill>
                  <a:schemeClr val="dk1"/>
                </a:solidFill>
              </a:rPr>
              <a:t> и </a:t>
            </a:r>
            <a:r>
              <a:rPr lang="en-US" altLang="en-US" sz="1400" dirty="0" err="1">
                <a:solidFill>
                  <a:schemeClr val="dk1"/>
                </a:solidFill>
              </a:rPr>
              <a:t>визуализации</a:t>
            </a:r>
            <a:r>
              <a:rPr lang="en-US" altLang="en-US" sz="1400" dirty="0">
                <a:solidFill>
                  <a:schemeClr val="dk1"/>
                </a:solidFill>
              </a:rPr>
              <a:t>, </a:t>
            </a:r>
            <a:r>
              <a:rPr lang="en-US" altLang="en-US" sz="1400" dirty="0" err="1">
                <a:solidFill>
                  <a:schemeClr val="dk1"/>
                </a:solidFill>
              </a:rPr>
              <a:t>которые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показывают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распределение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ошибок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по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таблицам</a:t>
            </a:r>
            <a:r>
              <a:rPr lang="en-US" altLang="en-US" sz="1400" dirty="0">
                <a:solidFill>
                  <a:schemeClr val="dk1"/>
                </a:solidFill>
              </a:rPr>
              <a:t> и </a:t>
            </a:r>
            <a:r>
              <a:rPr lang="en-US" altLang="en-US" sz="1400" dirty="0" err="1">
                <a:solidFill>
                  <a:schemeClr val="dk1"/>
                </a:solidFill>
              </a:rPr>
              <a:t>типам</a:t>
            </a:r>
            <a:r>
              <a:rPr lang="en-US" altLang="en-US" sz="1400" dirty="0">
                <a:solidFill>
                  <a:schemeClr val="dk1"/>
                </a:solidFill>
              </a:rPr>
              <a:t> и </a:t>
            </a:r>
            <a:r>
              <a:rPr lang="en-US" altLang="en-US" sz="1400" dirty="0" err="1">
                <a:solidFill>
                  <a:schemeClr val="dk1"/>
                </a:solidFill>
              </a:rPr>
              <a:t>позволяют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быстро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оценить</a:t>
            </a:r>
            <a:r>
              <a:rPr lang="en-US" altLang="en-US" sz="1400" dirty="0">
                <a:solidFill>
                  <a:schemeClr val="dk1"/>
                </a:solidFill>
              </a:rPr>
              <a:t> “</a:t>
            </a:r>
            <a:r>
              <a:rPr lang="en-US" altLang="en-US" sz="1400" dirty="0" err="1">
                <a:solidFill>
                  <a:schemeClr val="dk1"/>
                </a:solidFill>
              </a:rPr>
              <a:t>здоровье</a:t>
            </a:r>
            <a:r>
              <a:rPr lang="en-US" altLang="en-US" sz="1400" dirty="0">
                <a:solidFill>
                  <a:schemeClr val="dk1"/>
                </a:solidFill>
              </a:rPr>
              <a:t>” </a:t>
            </a:r>
            <a:r>
              <a:rPr lang="en-US" altLang="en-US" sz="1400" dirty="0" err="1">
                <a:solidFill>
                  <a:schemeClr val="dk1"/>
                </a:solidFill>
              </a:rPr>
              <a:t>датасета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перед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обучением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моделей</a:t>
            </a:r>
            <a:r>
              <a:rPr lang="en-US" altLang="en-US" sz="1400" dirty="0">
                <a:solidFill>
                  <a:schemeClr val="dk1"/>
                </a:solidFill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400" b="1" dirty="0" err="1">
                <a:solidFill>
                  <a:schemeClr val="dk1"/>
                </a:solidFill>
              </a:rPr>
              <a:t>Как</a:t>
            </a:r>
            <a:r>
              <a:rPr lang="en-US" altLang="en-US" sz="1400" b="1" dirty="0">
                <a:solidFill>
                  <a:schemeClr val="dk1"/>
                </a:solidFill>
              </a:rPr>
              <a:t> </a:t>
            </a:r>
            <a:r>
              <a:rPr lang="en-US" altLang="en-US" sz="1400" b="1" dirty="0" err="1">
                <a:solidFill>
                  <a:schemeClr val="dk1"/>
                </a:solidFill>
              </a:rPr>
              <a:t>можно</a:t>
            </a:r>
            <a:r>
              <a:rPr lang="en-US" altLang="en-US" sz="1400" b="1" dirty="0">
                <a:solidFill>
                  <a:schemeClr val="dk1"/>
                </a:solidFill>
              </a:rPr>
              <a:t> </a:t>
            </a:r>
            <a:r>
              <a:rPr lang="en-US" altLang="en-US" sz="1400" b="1" dirty="0" err="1">
                <a:solidFill>
                  <a:schemeClr val="dk1"/>
                </a:solidFill>
              </a:rPr>
              <a:t>улучшить</a:t>
            </a:r>
            <a:r>
              <a:rPr lang="en-US" altLang="en-US" sz="1400" b="1" dirty="0">
                <a:solidFill>
                  <a:schemeClr val="dk1"/>
                </a:solidFill>
              </a:rPr>
              <a:t> </a:t>
            </a:r>
            <a:r>
              <a:rPr lang="en-US" altLang="en-US" sz="1400" b="1" dirty="0" err="1">
                <a:solidFill>
                  <a:schemeClr val="dk1"/>
                </a:solidFill>
              </a:rPr>
              <a:t>результат</a:t>
            </a:r>
            <a:endParaRPr lang="en-US" altLang="en-US" sz="1400" b="1" dirty="0">
              <a:solidFill>
                <a:schemeClr val="dk1"/>
              </a:solidFill>
            </a:endParaRPr>
          </a:p>
          <a:p>
            <a:pPr marL="17145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1400" dirty="0" err="1">
                <a:solidFill>
                  <a:schemeClr val="dk1"/>
                </a:solidFill>
              </a:rPr>
              <a:t>Добавить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бизнес-правила</a:t>
            </a:r>
            <a:r>
              <a:rPr lang="en-US" altLang="en-US" sz="1400" dirty="0">
                <a:solidFill>
                  <a:schemeClr val="dk1"/>
                </a:solidFill>
              </a:rPr>
              <a:t> DQ (</a:t>
            </a:r>
            <a:r>
              <a:rPr lang="en-US" altLang="en-US" sz="1400" dirty="0" err="1">
                <a:solidFill>
                  <a:schemeClr val="dk1"/>
                </a:solidFill>
              </a:rPr>
              <a:t>пороги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по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продажам</a:t>
            </a:r>
            <a:r>
              <a:rPr lang="en-US" altLang="en-US" sz="1400" dirty="0">
                <a:solidFill>
                  <a:schemeClr val="dk1"/>
                </a:solidFill>
              </a:rPr>
              <a:t>/</a:t>
            </a:r>
            <a:r>
              <a:rPr lang="en-US" altLang="en-US" sz="1400" dirty="0" err="1">
                <a:solidFill>
                  <a:schemeClr val="dk1"/>
                </a:solidFill>
              </a:rPr>
              <a:t>ценам</a:t>
            </a:r>
            <a:r>
              <a:rPr lang="en-US" altLang="en-US" sz="1400" dirty="0">
                <a:solidFill>
                  <a:schemeClr val="dk1"/>
                </a:solidFill>
              </a:rPr>
              <a:t>, </a:t>
            </a:r>
            <a:r>
              <a:rPr lang="en-US" altLang="en-US" sz="1400" dirty="0" err="1">
                <a:solidFill>
                  <a:schemeClr val="dk1"/>
                </a:solidFill>
              </a:rPr>
              <a:t>аномальные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ru-RU" altLang="en-US" sz="1400" dirty="0">
                <a:solidFill>
                  <a:schemeClr val="dk1"/>
                </a:solidFill>
              </a:rPr>
              <a:t>значения-скачки</a:t>
            </a:r>
            <a:r>
              <a:rPr lang="en-US" altLang="en-US" sz="1400" dirty="0">
                <a:solidFill>
                  <a:schemeClr val="dk1"/>
                </a:solidFill>
              </a:rPr>
              <a:t>).</a:t>
            </a:r>
          </a:p>
          <a:p>
            <a:pPr marL="17145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1400" dirty="0" err="1">
                <a:solidFill>
                  <a:schemeClr val="dk1"/>
                </a:solidFill>
              </a:rPr>
              <a:t>Вынести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все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пороги</a:t>
            </a:r>
            <a:r>
              <a:rPr lang="en-US" altLang="en-US" sz="1400" dirty="0">
                <a:solidFill>
                  <a:schemeClr val="dk1"/>
                </a:solidFill>
              </a:rPr>
              <a:t> и </a:t>
            </a:r>
            <a:r>
              <a:rPr lang="en-US" altLang="en-US" sz="1400" dirty="0" err="1">
                <a:solidFill>
                  <a:schemeClr val="dk1"/>
                </a:solidFill>
              </a:rPr>
              <a:t>настройки</a:t>
            </a:r>
            <a:r>
              <a:rPr lang="en-US" altLang="en-US" sz="1400" dirty="0">
                <a:solidFill>
                  <a:schemeClr val="dk1"/>
                </a:solidFill>
              </a:rPr>
              <a:t> в </a:t>
            </a:r>
            <a:r>
              <a:rPr lang="en-US" altLang="en-US" sz="1400" dirty="0" err="1">
                <a:solidFill>
                  <a:schemeClr val="dk1"/>
                </a:solidFill>
              </a:rPr>
              <a:t>конфигурацию</a:t>
            </a:r>
            <a:r>
              <a:rPr lang="en-US" altLang="en-US" sz="1400" dirty="0">
                <a:solidFill>
                  <a:schemeClr val="dk1"/>
                </a:solidFill>
              </a:rPr>
              <a:t> (DQ_PARAMETERS) и </a:t>
            </a:r>
            <a:r>
              <a:rPr lang="en-US" altLang="en-US" sz="1400" dirty="0" err="1">
                <a:solidFill>
                  <a:schemeClr val="dk1"/>
                </a:solidFill>
              </a:rPr>
              <a:t>сделать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шаг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полностью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управляемым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без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изменения</a:t>
            </a:r>
            <a:r>
              <a:rPr lang="en-US" altLang="en-US" sz="1400" dirty="0">
                <a:solidFill>
                  <a:schemeClr val="dk1"/>
                </a:solidFill>
              </a:rPr>
              <a:t> </a:t>
            </a:r>
            <a:r>
              <a:rPr lang="en-US" altLang="en-US" sz="1400" dirty="0" err="1">
                <a:solidFill>
                  <a:schemeClr val="dk1"/>
                </a:solidFill>
              </a:rPr>
              <a:t>кода</a:t>
            </a:r>
            <a:r>
              <a:rPr lang="en-US" altLang="en-US" sz="1400" dirty="0">
                <a:solidFill>
                  <a:schemeClr val="dk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41954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D3BDE7FB-DFF6-6683-E64B-C41158543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60">
            <a:extLst>
              <a:ext uri="{FF2B5EF4-FFF2-40B4-BE49-F238E27FC236}">
                <a16:creationId xmlns:a16="http://schemas.microsoft.com/office/drawing/2014/main" id="{D76C489F-0793-086B-73A2-D0B5311B2D4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39975" y="1324500"/>
            <a:ext cx="70641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" sz="4000" dirty="0"/>
              <a:t>Разработка e2e пайплайна прогнозирования спроса в ритейле</a:t>
            </a:r>
            <a:endParaRPr sz="4000" dirty="0"/>
          </a:p>
        </p:txBody>
      </p:sp>
      <p:sp>
        <p:nvSpPr>
          <p:cNvPr id="489" name="Google Shape;489;p60">
            <a:extLst>
              <a:ext uri="{FF2B5EF4-FFF2-40B4-BE49-F238E27FC236}">
                <a16:creationId xmlns:a16="http://schemas.microsoft.com/office/drawing/2014/main" id="{2D7ACE38-05D5-C3E1-C9F4-80F23F49C0B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039950" y="3229628"/>
            <a:ext cx="7064100" cy="4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sz="2000" dirty="0" err="1"/>
              <a:t>Disaccumulation</a:t>
            </a:r>
            <a:endParaRPr lang="en-US" sz="32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588D26-F2DD-E10E-DD40-13A58CAAEC81}"/>
              </a:ext>
            </a:extLst>
          </p:cNvPr>
          <p:cNvSpPr txBox="1"/>
          <p:nvPr/>
        </p:nvSpPr>
        <p:spPr>
          <a:xfrm>
            <a:off x="3441248" y="3965957"/>
            <a:ext cx="489040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tx1"/>
                </a:solidFill>
                <a:latin typeface="Montserrat"/>
              </a:rPr>
              <a:t>Шуб Сергей </a:t>
            </a:r>
            <a:r>
              <a:rPr lang="ru-RU" sz="1600" dirty="0">
                <a:solidFill>
                  <a:schemeClr val="tx1"/>
                </a:solidFill>
                <a:latin typeface="Montserrat"/>
                <a:sym typeface="Montserrat"/>
              </a:rPr>
              <a:t>Алексеевич</a:t>
            </a:r>
          </a:p>
        </p:txBody>
      </p:sp>
    </p:spTree>
    <p:extLst>
      <p:ext uri="{BB962C8B-B14F-4D97-AF65-F5344CB8AC3E}">
        <p14:creationId xmlns:p14="http://schemas.microsoft.com/office/powerpoint/2010/main" val="2429899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4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4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9">
          <a:extLst>
            <a:ext uri="{FF2B5EF4-FFF2-40B4-BE49-F238E27FC236}">
              <a16:creationId xmlns:a16="http://schemas.microsoft.com/office/drawing/2014/main" id="{22287F54-9790-DA8A-39BE-0F7091934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1;p14">
            <a:extLst>
              <a:ext uri="{FF2B5EF4-FFF2-40B4-BE49-F238E27FC236}">
                <a16:creationId xmlns:a16="http://schemas.microsoft.com/office/drawing/2014/main" id="{61C33738-0ECC-BBB2-8D04-B02390BBEEA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6488" y="917757"/>
            <a:ext cx="8371024" cy="3473826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Облачко с текстом: прямоугольное 6">
            <a:extLst>
              <a:ext uri="{FF2B5EF4-FFF2-40B4-BE49-F238E27FC236}">
                <a16:creationId xmlns:a16="http://schemas.microsoft.com/office/drawing/2014/main" id="{F2B5732D-9B11-0888-BAEC-AEFC6C127A44}"/>
              </a:ext>
            </a:extLst>
          </p:cNvPr>
          <p:cNvSpPr/>
          <p:nvPr/>
        </p:nvSpPr>
        <p:spPr>
          <a:xfrm rot="10800000">
            <a:off x="491778" y="2808023"/>
            <a:ext cx="3749807" cy="1583560"/>
          </a:xfrm>
          <a:prstGeom prst="wedgeRectCallout">
            <a:avLst>
              <a:gd name="adj1" fmla="val -75486"/>
              <a:gd name="adj2" fmla="val -3145"/>
            </a:avLst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01FC8D-7C24-B4EC-9F7D-A1ABAC245A64}"/>
              </a:ext>
            </a:extLst>
          </p:cNvPr>
          <p:cNvSpPr txBox="1"/>
          <p:nvPr/>
        </p:nvSpPr>
        <p:spPr>
          <a:xfrm>
            <a:off x="609748" y="2808023"/>
            <a:ext cx="351386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800" b="1" dirty="0">
                <a:solidFill>
                  <a:schemeClr val="tx1"/>
                </a:solidFill>
                <a:latin typeface="Montserrat" panose="00000500000000000000" pitchFamily="2" charset="-52"/>
                <a:cs typeface="Mongolian Baiti" panose="03000500000000000000" pitchFamily="66" charset="0"/>
              </a:rPr>
              <a:t>Что делает и зачем: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800" dirty="0">
                <a:solidFill>
                  <a:schemeClr val="tx1"/>
                </a:solidFill>
                <a:latin typeface="Montserrat" panose="00000500000000000000" pitchFamily="2" charset="-52"/>
                <a:cs typeface="Mongolian Baiti" panose="03000500000000000000" pitchFamily="66" charset="0"/>
              </a:rPr>
              <a:t>Проверяет, отличается ли текущая временная гранулярность прогноза от целевой.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800" dirty="0">
                <a:solidFill>
                  <a:schemeClr val="tx1"/>
                </a:solidFill>
                <a:latin typeface="Montserrat" panose="00000500000000000000" pitchFamily="2" charset="-52"/>
                <a:cs typeface="Mongolian Baiti" panose="03000500000000000000" pitchFamily="66" charset="0"/>
              </a:rPr>
              <a:t>Если отличается - режет интервалы на дни или недели.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800" dirty="0">
                <a:solidFill>
                  <a:schemeClr val="tx1"/>
                </a:solidFill>
                <a:latin typeface="Montserrat" panose="00000500000000000000" pitchFamily="2" charset="-52"/>
                <a:cs typeface="Mongolian Baiti" panose="03000500000000000000" pitchFamily="66" charset="0"/>
              </a:rPr>
              <a:t>Перераспределяет значения прогноза пропорционально количеству дней в каждом новом интервале, сохраняя общий объём.</a:t>
            </a:r>
          </a:p>
          <a:p>
            <a:r>
              <a:rPr lang="ru-RU" sz="800" b="1" dirty="0">
                <a:solidFill>
                  <a:schemeClr val="tx1"/>
                </a:solidFill>
                <a:latin typeface="Montserrat" panose="00000500000000000000" pitchFamily="2" charset="-52"/>
                <a:cs typeface="Mongolian Baiti" panose="03000500000000000000" pitchFamily="66" charset="0"/>
              </a:rPr>
              <a:t>Зачем нужно:</a:t>
            </a:r>
          </a:p>
          <a:p>
            <a:r>
              <a:rPr lang="ru-RU" sz="800" dirty="0">
                <a:solidFill>
                  <a:schemeClr val="tx1"/>
                </a:solidFill>
                <a:latin typeface="Montserrat" panose="00000500000000000000" pitchFamily="2" charset="-52"/>
                <a:cs typeface="Mongolian Baiti" panose="03000500000000000000" pitchFamily="66" charset="0"/>
              </a:rPr>
              <a:t>Чтобы получить прогноз в той временной детализации, в которой работают дальнейшие шаги без потери и искажения исходного объёма прогноза.</a:t>
            </a:r>
          </a:p>
          <a:p>
            <a:endParaRPr lang="ru-RU" sz="800" b="1" dirty="0">
              <a:solidFill>
                <a:schemeClr val="tx1"/>
              </a:solidFill>
              <a:latin typeface="Montserrat" panose="00000500000000000000" pitchFamily="2" charset="-52"/>
              <a:cs typeface="Mongolian Baiti" panose="03000500000000000000" pitchFamily="66" charset="0"/>
            </a:endParaRPr>
          </a:p>
        </p:txBody>
      </p:sp>
      <p:sp>
        <p:nvSpPr>
          <p:cNvPr id="10" name="Google Shape;60;p14">
            <a:extLst>
              <a:ext uri="{FF2B5EF4-FFF2-40B4-BE49-F238E27FC236}">
                <a16:creationId xmlns:a16="http://schemas.microsoft.com/office/drawing/2014/main" id="{A8FCAE61-9FBA-D5A0-5BFF-4C4C0F80C5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45057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Montserrat" panose="00000500000000000000" pitchFamily="2" charset="-52"/>
              </a:rPr>
              <a:t>e2e процесс прогнзировния спроса</a:t>
            </a:r>
            <a:endParaRPr dirty="0"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8715098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4">
          <a:extLst>
            <a:ext uri="{FF2B5EF4-FFF2-40B4-BE49-F238E27FC236}">
              <a16:creationId xmlns:a16="http://schemas.microsoft.com/office/drawing/2014/main" id="{A17E899C-7B68-927B-6F79-7D123CD7C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74">
            <a:extLst>
              <a:ext uri="{FF2B5EF4-FFF2-40B4-BE49-F238E27FC236}">
                <a16:creationId xmlns:a16="http://schemas.microsoft.com/office/drawing/2014/main" id="{80D8AC78-49D4-821F-5431-EA407DBB18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6327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buSzPts val="1100"/>
            </a:pPr>
            <a:r>
              <a:rPr lang="en" dirty="0"/>
              <a:t>Данные на входе шага</a:t>
            </a:r>
            <a:endParaRPr dirty="0"/>
          </a:p>
        </p:txBody>
      </p:sp>
      <p:sp>
        <p:nvSpPr>
          <p:cNvPr id="626" name="Google Shape;626;p74">
            <a:extLst>
              <a:ext uri="{FF2B5EF4-FFF2-40B4-BE49-F238E27FC236}">
                <a16:creationId xmlns:a16="http://schemas.microsoft.com/office/drawing/2014/main" id="{CCC9CBE8-45AD-C267-B02D-321B816B41B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161964" y="2576380"/>
            <a:ext cx="4240037" cy="50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dirty="0"/>
              <a:t>Параметр конфигурации</a:t>
            </a:r>
            <a:endParaRPr dirty="0"/>
          </a:p>
        </p:txBody>
      </p:sp>
      <p:sp>
        <p:nvSpPr>
          <p:cNvPr id="627" name="Google Shape;627;p74">
            <a:extLst>
              <a:ext uri="{FF2B5EF4-FFF2-40B4-BE49-F238E27FC236}">
                <a16:creationId xmlns:a16="http://schemas.microsoft.com/office/drawing/2014/main" id="{B75D6E29-9640-C8B3-E2FB-2EF49E1D7AD6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5038975" y="2961200"/>
            <a:ext cx="2053803" cy="90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/>
              <a:t>DAY или WEEK.2, который задаёт целевую временную гранулярность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28" name="Google Shape;628;p74">
            <a:extLst>
              <a:ext uri="{FF2B5EF4-FFF2-40B4-BE49-F238E27FC236}">
                <a16:creationId xmlns:a16="http://schemas.microsoft.com/office/drawing/2014/main" id="{C3CA810E-C2FA-7780-5DB2-AB48BC3588B4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1693174" y="2551449"/>
            <a:ext cx="2668963" cy="50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AGG_HYB_FCS</a:t>
            </a:r>
            <a:r>
              <a:rPr lang="ru-RU" dirty="0"/>
              <a:t>…</a:t>
            </a:r>
            <a:endParaRPr dirty="0"/>
          </a:p>
        </p:txBody>
      </p:sp>
      <p:sp>
        <p:nvSpPr>
          <p:cNvPr id="629" name="Google Shape;629;p74">
            <a:extLst>
              <a:ext uri="{FF2B5EF4-FFF2-40B4-BE49-F238E27FC236}">
                <a16:creationId xmlns:a16="http://schemas.microsoft.com/office/drawing/2014/main" id="{C0C7D138-0AA6-4EC4-1076-A87C1CE1C3D1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1170432" y="2961200"/>
            <a:ext cx="3664915" cy="90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1" indent="-28575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1100" dirty="0" err="1"/>
              <a:t>ключи</a:t>
            </a:r>
            <a:endParaRPr lang="en-US" altLang="en-US" sz="1100" dirty="0"/>
          </a:p>
          <a:p>
            <a:pPr marL="742950" lvl="1" indent="-28575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1100" dirty="0" err="1"/>
              <a:t>время</a:t>
            </a:r>
            <a:r>
              <a:rPr lang="en-US" altLang="en-US" sz="1100" dirty="0"/>
              <a:t>: </a:t>
            </a:r>
            <a:r>
              <a:rPr lang="en-US" altLang="en-US" sz="1100" dirty="0" err="1"/>
              <a:t>интервал</a:t>
            </a:r>
            <a:r>
              <a:rPr lang="en-US" altLang="en-US" sz="1100" dirty="0"/>
              <a:t> PERIOD_DT–PERIOD_END_DT (</a:t>
            </a:r>
            <a:r>
              <a:rPr lang="en-US" altLang="en-US" sz="1100" dirty="0" err="1"/>
              <a:t>обычно</a:t>
            </a:r>
            <a:r>
              <a:rPr lang="en-US" altLang="en-US" sz="1100" dirty="0"/>
              <a:t> </a:t>
            </a:r>
            <a:r>
              <a:rPr lang="en-US" altLang="en-US" sz="1100" dirty="0" err="1"/>
              <a:t>месяц</a:t>
            </a:r>
            <a:r>
              <a:rPr lang="en-US" altLang="en-US" sz="1100" dirty="0"/>
              <a:t>)</a:t>
            </a:r>
          </a:p>
          <a:p>
            <a:pPr marL="742950" lvl="1" indent="-28575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1100" dirty="0" err="1"/>
              <a:t>значения</a:t>
            </a:r>
            <a:r>
              <a:rPr lang="en-US" altLang="en-US" sz="1100" dirty="0"/>
              <a:t> </a:t>
            </a:r>
            <a:r>
              <a:rPr lang="en-US" altLang="en-US" sz="1100" dirty="0" err="1"/>
              <a:t>прогноза</a:t>
            </a:r>
            <a:r>
              <a:rPr lang="en-US" altLang="en-US" sz="1100" dirty="0"/>
              <a:t>: VF_FORECAST_VALUE, ML_FORECAST_VALUE, HYBRID_FORECAST_VALUE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</p:txBody>
      </p:sp>
      <p:grpSp>
        <p:nvGrpSpPr>
          <p:cNvPr id="4" name="Google Shape;9446;p149">
            <a:extLst>
              <a:ext uri="{FF2B5EF4-FFF2-40B4-BE49-F238E27FC236}">
                <a16:creationId xmlns:a16="http://schemas.microsoft.com/office/drawing/2014/main" id="{F2CAEF0F-C922-44A9-1EBD-AAD0DD33B970}"/>
              </a:ext>
            </a:extLst>
          </p:cNvPr>
          <p:cNvGrpSpPr/>
          <p:nvPr/>
        </p:nvGrpSpPr>
        <p:grpSpPr>
          <a:xfrm>
            <a:off x="2726503" y="2093327"/>
            <a:ext cx="526363" cy="472153"/>
            <a:chOff x="-3771675" y="3971775"/>
            <a:chExt cx="291300" cy="292025"/>
          </a:xfrm>
          <a:solidFill>
            <a:srgbClr val="4A413F"/>
          </a:solidFill>
        </p:grpSpPr>
        <p:sp>
          <p:nvSpPr>
            <p:cNvPr id="5" name="Google Shape;9447;p149">
              <a:extLst>
                <a:ext uri="{FF2B5EF4-FFF2-40B4-BE49-F238E27FC236}">
                  <a16:creationId xmlns:a16="http://schemas.microsoft.com/office/drawing/2014/main" id="{EAAC6DD4-5535-BF0F-6432-C2671529B594}"/>
                </a:ext>
              </a:extLst>
            </p:cNvPr>
            <p:cNvSpPr/>
            <p:nvPr/>
          </p:nvSpPr>
          <p:spPr>
            <a:xfrm>
              <a:off x="-3770100" y="3971775"/>
              <a:ext cx="218975" cy="66775"/>
            </a:xfrm>
            <a:custGeom>
              <a:avLst/>
              <a:gdLst/>
              <a:ahLst/>
              <a:cxnLst/>
              <a:rect l="l" t="t" r="r" b="b"/>
              <a:pathLst>
                <a:path w="8759" h="2671" extrusionOk="0">
                  <a:moveTo>
                    <a:pt x="4391" y="0"/>
                  </a:moveTo>
                  <a:cubicBezTo>
                    <a:pt x="2410" y="0"/>
                    <a:pt x="426" y="449"/>
                    <a:pt x="0" y="1347"/>
                  </a:cubicBezTo>
                  <a:cubicBezTo>
                    <a:pt x="426" y="2229"/>
                    <a:pt x="2410" y="2670"/>
                    <a:pt x="4391" y="2670"/>
                  </a:cubicBezTo>
                  <a:cubicBezTo>
                    <a:pt x="6372" y="2670"/>
                    <a:pt x="8349" y="2229"/>
                    <a:pt x="8759" y="1347"/>
                  </a:cubicBezTo>
                  <a:cubicBezTo>
                    <a:pt x="8349" y="449"/>
                    <a:pt x="6372" y="0"/>
                    <a:pt x="4391" y="0"/>
                  </a:cubicBezTo>
                  <a:close/>
                </a:path>
              </a:pathLst>
            </a:custGeom>
            <a:grpFill/>
            <a:ln>
              <a:solidFill>
                <a:srgbClr val="3F3533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9448;p149">
              <a:extLst>
                <a:ext uri="{FF2B5EF4-FFF2-40B4-BE49-F238E27FC236}">
                  <a16:creationId xmlns:a16="http://schemas.microsoft.com/office/drawing/2014/main" id="{9A327BFF-04B0-0F9E-96CD-177B568CD3A4}"/>
                </a:ext>
              </a:extLst>
            </p:cNvPr>
            <p:cNvSpPr/>
            <p:nvPr/>
          </p:nvSpPr>
          <p:spPr>
            <a:xfrm>
              <a:off x="-3771675" y="4030650"/>
              <a:ext cx="222125" cy="78000"/>
            </a:xfrm>
            <a:custGeom>
              <a:avLst/>
              <a:gdLst/>
              <a:ahLst/>
              <a:cxnLst/>
              <a:rect l="l" t="t" r="r" b="b"/>
              <a:pathLst>
                <a:path w="8885" h="3120" extrusionOk="0">
                  <a:moveTo>
                    <a:pt x="0" y="0"/>
                  </a:moveTo>
                  <a:lnTo>
                    <a:pt x="0" y="1418"/>
                  </a:lnTo>
                  <a:cubicBezTo>
                    <a:pt x="0" y="2521"/>
                    <a:pt x="2048" y="3088"/>
                    <a:pt x="4127" y="3119"/>
                  </a:cubicBezTo>
                  <a:cubicBezTo>
                    <a:pt x="4915" y="1891"/>
                    <a:pt x="6301" y="1103"/>
                    <a:pt x="7877" y="1103"/>
                  </a:cubicBezTo>
                  <a:cubicBezTo>
                    <a:pt x="8223" y="1103"/>
                    <a:pt x="8570" y="1135"/>
                    <a:pt x="8885" y="1229"/>
                  </a:cubicBezTo>
                  <a:lnTo>
                    <a:pt x="8885" y="0"/>
                  </a:lnTo>
                  <a:cubicBezTo>
                    <a:pt x="7908" y="788"/>
                    <a:pt x="6112" y="1072"/>
                    <a:pt x="4443" y="1072"/>
                  </a:cubicBezTo>
                  <a:cubicBezTo>
                    <a:pt x="2804" y="1072"/>
                    <a:pt x="977" y="757"/>
                    <a:pt x="0" y="0"/>
                  </a:cubicBezTo>
                  <a:close/>
                </a:path>
              </a:pathLst>
            </a:custGeom>
            <a:grpFill/>
            <a:ln>
              <a:solidFill>
                <a:srgbClr val="3F3533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9449;p149">
              <a:extLst>
                <a:ext uri="{FF2B5EF4-FFF2-40B4-BE49-F238E27FC236}">
                  <a16:creationId xmlns:a16="http://schemas.microsoft.com/office/drawing/2014/main" id="{DE82C125-6AD2-82AB-C0F8-4381A3990028}"/>
                </a:ext>
              </a:extLst>
            </p:cNvPr>
            <p:cNvSpPr/>
            <p:nvPr/>
          </p:nvSpPr>
          <p:spPr>
            <a:xfrm>
              <a:off x="-3669425" y="4074750"/>
              <a:ext cx="189050" cy="189050"/>
            </a:xfrm>
            <a:custGeom>
              <a:avLst/>
              <a:gdLst/>
              <a:ahLst/>
              <a:cxnLst/>
              <a:rect l="l" t="t" r="r" b="b"/>
              <a:pathLst>
                <a:path w="7562" h="7562" extrusionOk="0">
                  <a:moveTo>
                    <a:pt x="5501" y="2732"/>
                  </a:moveTo>
                  <a:cubicBezTo>
                    <a:pt x="5748" y="2732"/>
                    <a:pt x="6008" y="3067"/>
                    <a:pt x="5766" y="3309"/>
                  </a:cubicBezTo>
                  <a:lnTo>
                    <a:pt x="3718" y="5356"/>
                  </a:lnTo>
                  <a:cubicBezTo>
                    <a:pt x="3655" y="5420"/>
                    <a:pt x="3568" y="5451"/>
                    <a:pt x="3482" y="5451"/>
                  </a:cubicBezTo>
                  <a:cubicBezTo>
                    <a:pt x="3395" y="5451"/>
                    <a:pt x="3308" y="5420"/>
                    <a:pt x="3245" y="5356"/>
                  </a:cubicBezTo>
                  <a:lnTo>
                    <a:pt x="1859" y="4002"/>
                  </a:lnTo>
                  <a:cubicBezTo>
                    <a:pt x="1617" y="3760"/>
                    <a:pt x="1840" y="3425"/>
                    <a:pt x="2099" y="3425"/>
                  </a:cubicBezTo>
                  <a:cubicBezTo>
                    <a:pt x="2177" y="3425"/>
                    <a:pt x="2259" y="3456"/>
                    <a:pt x="2332" y="3529"/>
                  </a:cubicBezTo>
                  <a:lnTo>
                    <a:pt x="3466" y="4663"/>
                  </a:lnTo>
                  <a:lnTo>
                    <a:pt x="5293" y="2836"/>
                  </a:lnTo>
                  <a:cubicBezTo>
                    <a:pt x="5352" y="2763"/>
                    <a:pt x="5426" y="2732"/>
                    <a:pt x="5501" y="2732"/>
                  </a:cubicBezTo>
                  <a:close/>
                  <a:moveTo>
                    <a:pt x="3781" y="1"/>
                  </a:moveTo>
                  <a:cubicBezTo>
                    <a:pt x="1702" y="1"/>
                    <a:pt x="0" y="1702"/>
                    <a:pt x="0" y="3781"/>
                  </a:cubicBezTo>
                  <a:cubicBezTo>
                    <a:pt x="0" y="5892"/>
                    <a:pt x="1702" y="7562"/>
                    <a:pt x="3781" y="7562"/>
                  </a:cubicBezTo>
                  <a:cubicBezTo>
                    <a:pt x="5860" y="7562"/>
                    <a:pt x="7562" y="5892"/>
                    <a:pt x="7562" y="3781"/>
                  </a:cubicBezTo>
                  <a:cubicBezTo>
                    <a:pt x="7562" y="1702"/>
                    <a:pt x="5860" y="1"/>
                    <a:pt x="3781" y="1"/>
                  </a:cubicBezTo>
                  <a:close/>
                </a:path>
              </a:pathLst>
            </a:custGeom>
            <a:grpFill/>
            <a:ln>
              <a:solidFill>
                <a:srgbClr val="3F3533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9450;p149">
              <a:extLst>
                <a:ext uri="{FF2B5EF4-FFF2-40B4-BE49-F238E27FC236}">
                  <a16:creationId xmlns:a16="http://schemas.microsoft.com/office/drawing/2014/main" id="{4D22921C-CEE8-86AE-A31F-F6B7403BE9CB}"/>
                </a:ext>
              </a:extLst>
            </p:cNvPr>
            <p:cNvSpPr/>
            <p:nvPr/>
          </p:nvSpPr>
          <p:spPr>
            <a:xfrm>
              <a:off x="-3771675" y="4099950"/>
              <a:ext cx="94525" cy="76425"/>
            </a:xfrm>
            <a:custGeom>
              <a:avLst/>
              <a:gdLst/>
              <a:ahLst/>
              <a:cxnLst/>
              <a:rect l="l" t="t" r="r" b="b"/>
              <a:pathLst>
                <a:path w="3781" h="3057" extrusionOk="0">
                  <a:moveTo>
                    <a:pt x="0" y="1"/>
                  </a:moveTo>
                  <a:lnTo>
                    <a:pt x="0" y="1419"/>
                  </a:lnTo>
                  <a:cubicBezTo>
                    <a:pt x="0" y="2364"/>
                    <a:pt x="1607" y="2899"/>
                    <a:pt x="3434" y="3057"/>
                  </a:cubicBezTo>
                  <a:cubicBezTo>
                    <a:pt x="3371" y="2364"/>
                    <a:pt x="3497" y="1671"/>
                    <a:pt x="3781" y="1040"/>
                  </a:cubicBezTo>
                  <a:cubicBezTo>
                    <a:pt x="2332" y="977"/>
                    <a:pt x="819" y="662"/>
                    <a:pt x="0" y="1"/>
                  </a:cubicBezTo>
                  <a:close/>
                </a:path>
              </a:pathLst>
            </a:custGeom>
            <a:grpFill/>
            <a:ln>
              <a:solidFill>
                <a:srgbClr val="3F3533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9451;p149">
              <a:extLst>
                <a:ext uri="{FF2B5EF4-FFF2-40B4-BE49-F238E27FC236}">
                  <a16:creationId xmlns:a16="http://schemas.microsoft.com/office/drawing/2014/main" id="{A5F36A89-7965-BD59-6BE4-1F6CF2B6777B}"/>
                </a:ext>
              </a:extLst>
            </p:cNvPr>
            <p:cNvSpPr/>
            <p:nvPr/>
          </p:nvSpPr>
          <p:spPr>
            <a:xfrm>
              <a:off x="-3771675" y="4167700"/>
              <a:ext cx="135500" cy="95325"/>
            </a:xfrm>
            <a:custGeom>
              <a:avLst/>
              <a:gdLst/>
              <a:ahLst/>
              <a:cxnLst/>
              <a:rect l="l" t="t" r="r" b="b"/>
              <a:pathLst>
                <a:path w="5420" h="3813" extrusionOk="0">
                  <a:moveTo>
                    <a:pt x="0" y="0"/>
                  </a:moveTo>
                  <a:lnTo>
                    <a:pt x="0" y="2111"/>
                  </a:lnTo>
                  <a:cubicBezTo>
                    <a:pt x="0" y="3277"/>
                    <a:pt x="2237" y="3812"/>
                    <a:pt x="4443" y="3812"/>
                  </a:cubicBezTo>
                  <a:cubicBezTo>
                    <a:pt x="4789" y="3812"/>
                    <a:pt x="5104" y="3812"/>
                    <a:pt x="5419" y="3781"/>
                  </a:cubicBezTo>
                  <a:cubicBezTo>
                    <a:pt x="4474" y="3151"/>
                    <a:pt x="3781" y="2206"/>
                    <a:pt x="3529" y="1071"/>
                  </a:cubicBezTo>
                  <a:cubicBezTo>
                    <a:pt x="2174" y="977"/>
                    <a:pt x="788" y="662"/>
                    <a:pt x="0" y="0"/>
                  </a:cubicBezTo>
                  <a:close/>
                </a:path>
              </a:pathLst>
            </a:custGeom>
            <a:grpFill/>
            <a:ln>
              <a:solidFill>
                <a:srgbClr val="3F3533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" name="Google Shape;6647;p143">
            <a:extLst>
              <a:ext uri="{FF2B5EF4-FFF2-40B4-BE49-F238E27FC236}">
                <a16:creationId xmlns:a16="http://schemas.microsoft.com/office/drawing/2014/main" id="{A3E51DBB-806F-AC9F-EDBD-296F48272737}"/>
              </a:ext>
            </a:extLst>
          </p:cNvPr>
          <p:cNvGrpSpPr/>
          <p:nvPr/>
        </p:nvGrpSpPr>
        <p:grpSpPr>
          <a:xfrm>
            <a:off x="6018843" y="2014213"/>
            <a:ext cx="526363" cy="572700"/>
            <a:chOff x="1492675" y="2027925"/>
            <a:chExt cx="481825" cy="481825"/>
          </a:xfrm>
          <a:solidFill>
            <a:srgbClr val="3F3533"/>
          </a:solidFill>
        </p:grpSpPr>
        <p:sp>
          <p:nvSpPr>
            <p:cNvPr id="18" name="Google Shape;6648;p143">
              <a:extLst>
                <a:ext uri="{FF2B5EF4-FFF2-40B4-BE49-F238E27FC236}">
                  <a16:creationId xmlns:a16="http://schemas.microsoft.com/office/drawing/2014/main" id="{F1896C63-DA9F-8AC3-4E2E-590E99AE2407}"/>
                </a:ext>
              </a:extLst>
            </p:cNvPr>
            <p:cNvSpPr/>
            <p:nvPr/>
          </p:nvSpPr>
          <p:spPr>
            <a:xfrm>
              <a:off x="1719425" y="21700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cubicBezTo>
                    <a:pt x="877" y="1130"/>
                    <a:pt x="1130" y="877"/>
                    <a:pt x="1130" y="564"/>
                  </a:cubicBezTo>
                  <a:cubicBezTo>
                    <a:pt x="1130" y="251"/>
                    <a:pt x="877" y="1"/>
                    <a:pt x="5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9" name="Google Shape;6649;p143">
              <a:extLst>
                <a:ext uri="{FF2B5EF4-FFF2-40B4-BE49-F238E27FC236}">
                  <a16:creationId xmlns:a16="http://schemas.microsoft.com/office/drawing/2014/main" id="{856BD299-1D55-5367-1560-517B3F0D1970}"/>
                </a:ext>
              </a:extLst>
            </p:cNvPr>
            <p:cNvSpPr/>
            <p:nvPr/>
          </p:nvSpPr>
          <p:spPr>
            <a:xfrm>
              <a:off x="1832350" y="22547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0"/>
                  </a:moveTo>
                  <a:cubicBezTo>
                    <a:pt x="253" y="0"/>
                    <a:pt x="0" y="250"/>
                    <a:pt x="0" y="564"/>
                  </a:cubicBezTo>
                  <a:cubicBezTo>
                    <a:pt x="0" y="877"/>
                    <a:pt x="253" y="1130"/>
                    <a:pt x="567" y="1130"/>
                  </a:cubicBezTo>
                  <a:cubicBezTo>
                    <a:pt x="877" y="1130"/>
                    <a:pt x="1130" y="877"/>
                    <a:pt x="1130" y="564"/>
                  </a:cubicBezTo>
                  <a:cubicBezTo>
                    <a:pt x="1130" y="250"/>
                    <a:pt x="877" y="0"/>
                    <a:pt x="5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" name="Google Shape;6650;p143">
              <a:extLst>
                <a:ext uri="{FF2B5EF4-FFF2-40B4-BE49-F238E27FC236}">
                  <a16:creationId xmlns:a16="http://schemas.microsoft.com/office/drawing/2014/main" id="{D1635550-7CB5-B43F-B50C-1656052E5AC1}"/>
                </a:ext>
              </a:extLst>
            </p:cNvPr>
            <p:cNvSpPr/>
            <p:nvPr/>
          </p:nvSpPr>
          <p:spPr>
            <a:xfrm>
              <a:off x="1606500" y="22547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0"/>
                  </a:moveTo>
                  <a:cubicBezTo>
                    <a:pt x="254" y="0"/>
                    <a:pt x="1" y="250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cubicBezTo>
                    <a:pt x="877" y="1130"/>
                    <a:pt x="1130" y="877"/>
                    <a:pt x="1130" y="564"/>
                  </a:cubicBezTo>
                  <a:cubicBezTo>
                    <a:pt x="1130" y="250"/>
                    <a:pt x="877" y="0"/>
                    <a:pt x="5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6651;p143">
              <a:extLst>
                <a:ext uri="{FF2B5EF4-FFF2-40B4-BE49-F238E27FC236}">
                  <a16:creationId xmlns:a16="http://schemas.microsoft.com/office/drawing/2014/main" id="{3F552735-A242-1FF3-BE86-C864F149E00E}"/>
                </a:ext>
              </a:extLst>
            </p:cNvPr>
            <p:cNvSpPr/>
            <p:nvPr/>
          </p:nvSpPr>
          <p:spPr>
            <a:xfrm>
              <a:off x="1492675" y="2425025"/>
              <a:ext cx="481825" cy="84725"/>
            </a:xfrm>
            <a:custGeom>
              <a:avLst/>
              <a:gdLst/>
              <a:ahLst/>
              <a:cxnLst/>
              <a:rect l="l" t="t" r="r" b="b"/>
              <a:pathLst>
                <a:path w="19273" h="3389" extrusionOk="0">
                  <a:moveTo>
                    <a:pt x="1" y="1"/>
                  </a:moveTo>
                  <a:lnTo>
                    <a:pt x="1" y="1696"/>
                  </a:lnTo>
                  <a:cubicBezTo>
                    <a:pt x="1" y="2630"/>
                    <a:pt x="757" y="3389"/>
                    <a:pt x="1693" y="3389"/>
                  </a:cubicBezTo>
                  <a:lnTo>
                    <a:pt x="17577" y="3389"/>
                  </a:lnTo>
                  <a:cubicBezTo>
                    <a:pt x="18514" y="3389"/>
                    <a:pt x="19270" y="2630"/>
                    <a:pt x="19273" y="1696"/>
                  </a:cubicBezTo>
                  <a:lnTo>
                    <a:pt x="19273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" name="Google Shape;6652;p143">
              <a:extLst>
                <a:ext uri="{FF2B5EF4-FFF2-40B4-BE49-F238E27FC236}">
                  <a16:creationId xmlns:a16="http://schemas.microsoft.com/office/drawing/2014/main" id="{E9DE72CD-D570-9302-4E40-BA294AD4C196}"/>
                </a:ext>
              </a:extLst>
            </p:cNvPr>
            <p:cNvSpPr/>
            <p:nvPr/>
          </p:nvSpPr>
          <p:spPr>
            <a:xfrm>
              <a:off x="1492675" y="2027925"/>
              <a:ext cx="481825" cy="368000"/>
            </a:xfrm>
            <a:custGeom>
              <a:avLst/>
              <a:gdLst/>
              <a:ahLst/>
              <a:cxnLst/>
              <a:rect l="l" t="t" r="r" b="b"/>
              <a:pathLst>
                <a:path w="19273" h="14720" extrusionOk="0">
                  <a:moveTo>
                    <a:pt x="5120" y="2259"/>
                  </a:moveTo>
                  <a:cubicBezTo>
                    <a:pt x="5430" y="2259"/>
                    <a:pt x="5683" y="2512"/>
                    <a:pt x="5683" y="2825"/>
                  </a:cubicBezTo>
                  <a:lnTo>
                    <a:pt x="5683" y="8047"/>
                  </a:lnTo>
                  <a:cubicBezTo>
                    <a:pt x="6360" y="8281"/>
                    <a:pt x="6812" y="8920"/>
                    <a:pt x="6812" y="9637"/>
                  </a:cubicBezTo>
                  <a:cubicBezTo>
                    <a:pt x="6812" y="10353"/>
                    <a:pt x="6360" y="10992"/>
                    <a:pt x="5683" y="11226"/>
                  </a:cubicBezTo>
                  <a:lnTo>
                    <a:pt x="5683" y="13024"/>
                  </a:lnTo>
                  <a:cubicBezTo>
                    <a:pt x="5683" y="13337"/>
                    <a:pt x="5430" y="13587"/>
                    <a:pt x="5120" y="13587"/>
                  </a:cubicBezTo>
                  <a:cubicBezTo>
                    <a:pt x="4807" y="13587"/>
                    <a:pt x="4554" y="13337"/>
                    <a:pt x="4554" y="13024"/>
                  </a:cubicBezTo>
                  <a:lnTo>
                    <a:pt x="4554" y="11226"/>
                  </a:lnTo>
                  <a:cubicBezTo>
                    <a:pt x="3876" y="10992"/>
                    <a:pt x="3425" y="10353"/>
                    <a:pt x="3425" y="9637"/>
                  </a:cubicBezTo>
                  <a:cubicBezTo>
                    <a:pt x="3425" y="8920"/>
                    <a:pt x="3876" y="8281"/>
                    <a:pt x="4554" y="8047"/>
                  </a:cubicBezTo>
                  <a:lnTo>
                    <a:pt x="4554" y="2825"/>
                  </a:lnTo>
                  <a:cubicBezTo>
                    <a:pt x="4554" y="2512"/>
                    <a:pt x="4807" y="2259"/>
                    <a:pt x="5120" y="2259"/>
                  </a:cubicBezTo>
                  <a:close/>
                  <a:moveTo>
                    <a:pt x="9637" y="2259"/>
                  </a:moveTo>
                  <a:cubicBezTo>
                    <a:pt x="9947" y="2259"/>
                    <a:pt x="10200" y="2512"/>
                    <a:pt x="10200" y="2825"/>
                  </a:cubicBezTo>
                  <a:lnTo>
                    <a:pt x="10200" y="4659"/>
                  </a:lnTo>
                  <a:cubicBezTo>
                    <a:pt x="10877" y="4894"/>
                    <a:pt x="11329" y="5532"/>
                    <a:pt x="11329" y="6249"/>
                  </a:cubicBezTo>
                  <a:cubicBezTo>
                    <a:pt x="11329" y="6966"/>
                    <a:pt x="10877" y="7604"/>
                    <a:pt x="10200" y="7839"/>
                  </a:cubicBezTo>
                  <a:lnTo>
                    <a:pt x="10200" y="13024"/>
                  </a:lnTo>
                  <a:cubicBezTo>
                    <a:pt x="10200" y="13337"/>
                    <a:pt x="9947" y="13587"/>
                    <a:pt x="9637" y="13587"/>
                  </a:cubicBezTo>
                  <a:cubicBezTo>
                    <a:pt x="9324" y="13587"/>
                    <a:pt x="9071" y="13337"/>
                    <a:pt x="9071" y="13024"/>
                  </a:cubicBezTo>
                  <a:lnTo>
                    <a:pt x="9071" y="7839"/>
                  </a:lnTo>
                  <a:cubicBezTo>
                    <a:pt x="8393" y="7604"/>
                    <a:pt x="7941" y="6966"/>
                    <a:pt x="7941" y="6249"/>
                  </a:cubicBezTo>
                  <a:cubicBezTo>
                    <a:pt x="7941" y="5532"/>
                    <a:pt x="8393" y="4894"/>
                    <a:pt x="9071" y="4659"/>
                  </a:cubicBezTo>
                  <a:lnTo>
                    <a:pt x="9071" y="2825"/>
                  </a:lnTo>
                  <a:cubicBezTo>
                    <a:pt x="9071" y="2512"/>
                    <a:pt x="9324" y="2259"/>
                    <a:pt x="9637" y="2259"/>
                  </a:cubicBezTo>
                  <a:close/>
                  <a:moveTo>
                    <a:pt x="14154" y="2259"/>
                  </a:moveTo>
                  <a:cubicBezTo>
                    <a:pt x="14464" y="2259"/>
                    <a:pt x="14717" y="2512"/>
                    <a:pt x="14717" y="2825"/>
                  </a:cubicBezTo>
                  <a:lnTo>
                    <a:pt x="14717" y="8047"/>
                  </a:lnTo>
                  <a:cubicBezTo>
                    <a:pt x="15394" y="8281"/>
                    <a:pt x="15846" y="8920"/>
                    <a:pt x="15846" y="9637"/>
                  </a:cubicBezTo>
                  <a:cubicBezTo>
                    <a:pt x="15846" y="10353"/>
                    <a:pt x="15394" y="10992"/>
                    <a:pt x="14717" y="11226"/>
                  </a:cubicBezTo>
                  <a:lnTo>
                    <a:pt x="14717" y="13024"/>
                  </a:lnTo>
                  <a:cubicBezTo>
                    <a:pt x="14717" y="13337"/>
                    <a:pt x="14464" y="13587"/>
                    <a:pt x="14154" y="13587"/>
                  </a:cubicBezTo>
                  <a:cubicBezTo>
                    <a:pt x="13840" y="13587"/>
                    <a:pt x="13587" y="13337"/>
                    <a:pt x="13587" y="13024"/>
                  </a:cubicBezTo>
                  <a:lnTo>
                    <a:pt x="13587" y="11226"/>
                  </a:lnTo>
                  <a:cubicBezTo>
                    <a:pt x="12910" y="10992"/>
                    <a:pt x="12458" y="10353"/>
                    <a:pt x="12458" y="9637"/>
                  </a:cubicBezTo>
                  <a:cubicBezTo>
                    <a:pt x="12458" y="8920"/>
                    <a:pt x="12910" y="8281"/>
                    <a:pt x="13587" y="8047"/>
                  </a:cubicBezTo>
                  <a:lnTo>
                    <a:pt x="13587" y="2825"/>
                  </a:lnTo>
                  <a:cubicBezTo>
                    <a:pt x="13587" y="2512"/>
                    <a:pt x="13840" y="2259"/>
                    <a:pt x="14154" y="2259"/>
                  </a:cubicBezTo>
                  <a:close/>
                  <a:moveTo>
                    <a:pt x="1693" y="1"/>
                  </a:moveTo>
                  <a:cubicBezTo>
                    <a:pt x="757" y="1"/>
                    <a:pt x="1" y="759"/>
                    <a:pt x="1" y="1696"/>
                  </a:cubicBezTo>
                  <a:lnTo>
                    <a:pt x="1" y="14720"/>
                  </a:lnTo>
                  <a:lnTo>
                    <a:pt x="19273" y="14720"/>
                  </a:lnTo>
                  <a:lnTo>
                    <a:pt x="19273" y="1696"/>
                  </a:lnTo>
                  <a:cubicBezTo>
                    <a:pt x="19270" y="759"/>
                    <a:pt x="18514" y="1"/>
                    <a:pt x="1757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17974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3">
          <a:extLst>
            <a:ext uri="{FF2B5EF4-FFF2-40B4-BE49-F238E27FC236}">
              <a16:creationId xmlns:a16="http://schemas.microsoft.com/office/drawing/2014/main" id="{D71DDEE7-5704-09AB-F543-28F23192A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Google Shape;884;p90">
            <a:extLst>
              <a:ext uri="{FF2B5EF4-FFF2-40B4-BE49-F238E27FC236}">
                <a16:creationId xmlns:a16="http://schemas.microsoft.com/office/drawing/2014/main" id="{09EA1682-7250-470B-02C8-2C70E3CEB5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665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/>
              <a:t>Данные на </a:t>
            </a:r>
            <a:r>
              <a:rPr lang="ru-RU" dirty="0"/>
              <a:t>выходе</a:t>
            </a:r>
            <a:r>
              <a:rPr lang="en" dirty="0"/>
              <a:t> шага</a:t>
            </a:r>
            <a:endParaRPr dirty="0"/>
          </a:p>
        </p:txBody>
      </p:sp>
      <p:sp>
        <p:nvSpPr>
          <p:cNvPr id="885" name="Google Shape;885;p90">
            <a:extLst>
              <a:ext uri="{FF2B5EF4-FFF2-40B4-BE49-F238E27FC236}">
                <a16:creationId xmlns:a16="http://schemas.microsoft.com/office/drawing/2014/main" id="{9EAB674F-0DE1-C91D-37D4-E58360E67CC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301104" y="1888163"/>
            <a:ext cx="4505097" cy="4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/>
              <a:t>ACC_AGG_HYBRID_FORECAST</a:t>
            </a:r>
            <a:endParaRPr lang="en-US" dirty="0"/>
          </a:p>
        </p:txBody>
      </p:sp>
      <p:sp>
        <p:nvSpPr>
          <p:cNvPr id="886" name="Google Shape;886;p90">
            <a:extLst>
              <a:ext uri="{FF2B5EF4-FFF2-40B4-BE49-F238E27FC236}">
                <a16:creationId xmlns:a16="http://schemas.microsoft.com/office/drawing/2014/main" id="{97D3153C-2844-8993-E04E-90DFAEA05758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2488502" y="2473514"/>
            <a:ext cx="4400979" cy="8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900" b="1" dirty="0">
                <a:solidFill>
                  <a:schemeClr val="tx1"/>
                </a:solidFill>
                <a:latin typeface="Arial" panose="020B0604020202020204" pitchFamily="34" charset="0"/>
              </a:rPr>
              <a:t>PRODUCT_ID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–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идентификатор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продукта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,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для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которого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посчитан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прогноз</a:t>
            </a:r>
            <a:endParaRPr lang="en-US" altLang="en-US" sz="9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900" b="1" dirty="0">
                <a:solidFill>
                  <a:schemeClr val="tx1"/>
                </a:solidFill>
                <a:latin typeface="Arial" panose="020B0604020202020204" pitchFamily="34" charset="0"/>
              </a:rPr>
              <a:t>LOCATION_ID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–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идентификатор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локации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(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магазин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/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склад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)</a:t>
            </a:r>
          </a:p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900" b="1" dirty="0">
                <a:solidFill>
                  <a:schemeClr val="tx1"/>
                </a:solidFill>
                <a:latin typeface="Arial" panose="020B0604020202020204" pitchFamily="34" charset="0"/>
              </a:rPr>
              <a:t>CUSTOMER_ID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–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идентификатор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клиента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(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если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используется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в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витрине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)</a:t>
            </a:r>
          </a:p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900" b="1" dirty="0">
                <a:solidFill>
                  <a:schemeClr val="tx1"/>
                </a:solidFill>
                <a:latin typeface="Arial" panose="020B0604020202020204" pitchFamily="34" charset="0"/>
              </a:rPr>
              <a:t>DISTR_CHANNEL_ID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–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идентификатор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канала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дистрибуции</a:t>
            </a:r>
            <a:endParaRPr lang="en-US" altLang="en-US" sz="9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900" b="1" dirty="0">
                <a:solidFill>
                  <a:schemeClr val="tx1"/>
                </a:solidFill>
                <a:latin typeface="Arial" panose="020B0604020202020204" pitchFamily="34" charset="0"/>
              </a:rPr>
              <a:t>PERIOD_DT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–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начало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интервала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в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целевой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временной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гранулярности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(DAY / WEEK.2)</a:t>
            </a:r>
          </a:p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900" b="1" dirty="0">
                <a:solidFill>
                  <a:schemeClr val="tx1"/>
                </a:solidFill>
                <a:latin typeface="Arial" panose="020B0604020202020204" pitchFamily="34" charset="0"/>
              </a:rPr>
              <a:t>PERIOD_END_DT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–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конец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интервала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(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для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DAY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совпадает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с PERIOD_DT,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для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WEEK.2 —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конец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недели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)</a:t>
            </a:r>
          </a:p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900" b="1" dirty="0">
                <a:solidFill>
                  <a:schemeClr val="tx1"/>
                </a:solidFill>
                <a:latin typeface="Arial" panose="020B0604020202020204" pitchFamily="34" charset="0"/>
              </a:rPr>
              <a:t>VF_FORECAST_VALUE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–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дизаккумулированный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объём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VF-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прогноза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на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этот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интервал</a:t>
            </a:r>
            <a:endParaRPr lang="en-US" altLang="en-US" sz="9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900" b="1" dirty="0">
                <a:solidFill>
                  <a:schemeClr val="tx1"/>
                </a:solidFill>
                <a:latin typeface="Arial" panose="020B0604020202020204" pitchFamily="34" charset="0"/>
              </a:rPr>
              <a:t>ML_FORECAST_VALUE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–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дизаккумулированный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объём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ML-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прогноза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на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этот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интервал</a:t>
            </a:r>
            <a:endParaRPr lang="en-US" altLang="en-US" sz="9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900" b="1" dirty="0">
                <a:solidFill>
                  <a:schemeClr val="tx1"/>
                </a:solidFill>
                <a:latin typeface="Arial" panose="020B0604020202020204" pitchFamily="34" charset="0"/>
              </a:rPr>
              <a:t>HYBRID_FORECAST_VALUE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–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дизаккумулированный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объём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гибридного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прогноза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на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этот</a:t>
            </a:r>
            <a:r>
              <a:rPr lang="en-US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900" dirty="0" err="1">
                <a:solidFill>
                  <a:schemeClr val="tx1"/>
                </a:solidFill>
                <a:latin typeface="Arial" panose="020B0604020202020204" pitchFamily="34" charset="0"/>
              </a:rPr>
              <a:t>интерв</a:t>
            </a:r>
            <a:r>
              <a:rPr lang="ru-RU" altLang="en-US" sz="900" dirty="0">
                <a:solidFill>
                  <a:schemeClr val="tx1"/>
                </a:solidFill>
                <a:latin typeface="Arial" panose="020B0604020202020204" pitchFamily="34" charset="0"/>
              </a:rPr>
              <a:t>ал.</a:t>
            </a:r>
            <a:endParaRPr lang="en-US" altLang="en-US" sz="9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grpSp>
        <p:nvGrpSpPr>
          <p:cNvPr id="29" name="Google Shape;9446;p149">
            <a:extLst>
              <a:ext uri="{FF2B5EF4-FFF2-40B4-BE49-F238E27FC236}">
                <a16:creationId xmlns:a16="http://schemas.microsoft.com/office/drawing/2014/main" id="{570951E9-05D0-A51E-6044-98D731EBE0ED}"/>
              </a:ext>
            </a:extLst>
          </p:cNvPr>
          <p:cNvGrpSpPr/>
          <p:nvPr/>
        </p:nvGrpSpPr>
        <p:grpSpPr>
          <a:xfrm>
            <a:off x="4290470" y="1416010"/>
            <a:ext cx="526363" cy="472153"/>
            <a:chOff x="-3771675" y="3971775"/>
            <a:chExt cx="291300" cy="292025"/>
          </a:xfrm>
          <a:solidFill>
            <a:srgbClr val="4A413F"/>
          </a:solidFill>
        </p:grpSpPr>
        <p:sp>
          <p:nvSpPr>
            <p:cNvPr id="30" name="Google Shape;9447;p149">
              <a:extLst>
                <a:ext uri="{FF2B5EF4-FFF2-40B4-BE49-F238E27FC236}">
                  <a16:creationId xmlns:a16="http://schemas.microsoft.com/office/drawing/2014/main" id="{EC74DF30-D054-82C0-3D40-22604002E634}"/>
                </a:ext>
              </a:extLst>
            </p:cNvPr>
            <p:cNvSpPr/>
            <p:nvPr/>
          </p:nvSpPr>
          <p:spPr>
            <a:xfrm>
              <a:off x="-3770100" y="3971775"/>
              <a:ext cx="218975" cy="66775"/>
            </a:xfrm>
            <a:custGeom>
              <a:avLst/>
              <a:gdLst/>
              <a:ahLst/>
              <a:cxnLst/>
              <a:rect l="l" t="t" r="r" b="b"/>
              <a:pathLst>
                <a:path w="8759" h="2671" extrusionOk="0">
                  <a:moveTo>
                    <a:pt x="4391" y="0"/>
                  </a:moveTo>
                  <a:cubicBezTo>
                    <a:pt x="2410" y="0"/>
                    <a:pt x="426" y="449"/>
                    <a:pt x="0" y="1347"/>
                  </a:cubicBezTo>
                  <a:cubicBezTo>
                    <a:pt x="426" y="2229"/>
                    <a:pt x="2410" y="2670"/>
                    <a:pt x="4391" y="2670"/>
                  </a:cubicBezTo>
                  <a:cubicBezTo>
                    <a:pt x="6372" y="2670"/>
                    <a:pt x="8349" y="2229"/>
                    <a:pt x="8759" y="1347"/>
                  </a:cubicBezTo>
                  <a:cubicBezTo>
                    <a:pt x="8349" y="449"/>
                    <a:pt x="6372" y="0"/>
                    <a:pt x="4391" y="0"/>
                  </a:cubicBezTo>
                  <a:close/>
                </a:path>
              </a:pathLst>
            </a:custGeom>
            <a:grpFill/>
            <a:ln>
              <a:solidFill>
                <a:srgbClr val="3F3533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9448;p149">
              <a:extLst>
                <a:ext uri="{FF2B5EF4-FFF2-40B4-BE49-F238E27FC236}">
                  <a16:creationId xmlns:a16="http://schemas.microsoft.com/office/drawing/2014/main" id="{D4D3B758-C243-FD5E-1E63-184F7CCCA9E0}"/>
                </a:ext>
              </a:extLst>
            </p:cNvPr>
            <p:cNvSpPr/>
            <p:nvPr/>
          </p:nvSpPr>
          <p:spPr>
            <a:xfrm>
              <a:off x="-3771675" y="4030650"/>
              <a:ext cx="222125" cy="78000"/>
            </a:xfrm>
            <a:custGeom>
              <a:avLst/>
              <a:gdLst/>
              <a:ahLst/>
              <a:cxnLst/>
              <a:rect l="l" t="t" r="r" b="b"/>
              <a:pathLst>
                <a:path w="8885" h="3120" extrusionOk="0">
                  <a:moveTo>
                    <a:pt x="0" y="0"/>
                  </a:moveTo>
                  <a:lnTo>
                    <a:pt x="0" y="1418"/>
                  </a:lnTo>
                  <a:cubicBezTo>
                    <a:pt x="0" y="2521"/>
                    <a:pt x="2048" y="3088"/>
                    <a:pt x="4127" y="3119"/>
                  </a:cubicBezTo>
                  <a:cubicBezTo>
                    <a:pt x="4915" y="1891"/>
                    <a:pt x="6301" y="1103"/>
                    <a:pt x="7877" y="1103"/>
                  </a:cubicBezTo>
                  <a:cubicBezTo>
                    <a:pt x="8223" y="1103"/>
                    <a:pt x="8570" y="1135"/>
                    <a:pt x="8885" y="1229"/>
                  </a:cubicBezTo>
                  <a:lnTo>
                    <a:pt x="8885" y="0"/>
                  </a:lnTo>
                  <a:cubicBezTo>
                    <a:pt x="7908" y="788"/>
                    <a:pt x="6112" y="1072"/>
                    <a:pt x="4443" y="1072"/>
                  </a:cubicBezTo>
                  <a:cubicBezTo>
                    <a:pt x="2804" y="1072"/>
                    <a:pt x="977" y="757"/>
                    <a:pt x="0" y="0"/>
                  </a:cubicBezTo>
                  <a:close/>
                </a:path>
              </a:pathLst>
            </a:custGeom>
            <a:grpFill/>
            <a:ln>
              <a:solidFill>
                <a:srgbClr val="3F3533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9449;p149">
              <a:extLst>
                <a:ext uri="{FF2B5EF4-FFF2-40B4-BE49-F238E27FC236}">
                  <a16:creationId xmlns:a16="http://schemas.microsoft.com/office/drawing/2014/main" id="{80268124-61F9-CA17-5E66-3FFAF76B0D24}"/>
                </a:ext>
              </a:extLst>
            </p:cNvPr>
            <p:cNvSpPr/>
            <p:nvPr/>
          </p:nvSpPr>
          <p:spPr>
            <a:xfrm>
              <a:off x="-3669425" y="4074750"/>
              <a:ext cx="189050" cy="189050"/>
            </a:xfrm>
            <a:custGeom>
              <a:avLst/>
              <a:gdLst/>
              <a:ahLst/>
              <a:cxnLst/>
              <a:rect l="l" t="t" r="r" b="b"/>
              <a:pathLst>
                <a:path w="7562" h="7562" extrusionOk="0">
                  <a:moveTo>
                    <a:pt x="5501" y="2732"/>
                  </a:moveTo>
                  <a:cubicBezTo>
                    <a:pt x="5748" y="2732"/>
                    <a:pt x="6008" y="3067"/>
                    <a:pt x="5766" y="3309"/>
                  </a:cubicBezTo>
                  <a:lnTo>
                    <a:pt x="3718" y="5356"/>
                  </a:lnTo>
                  <a:cubicBezTo>
                    <a:pt x="3655" y="5420"/>
                    <a:pt x="3568" y="5451"/>
                    <a:pt x="3482" y="5451"/>
                  </a:cubicBezTo>
                  <a:cubicBezTo>
                    <a:pt x="3395" y="5451"/>
                    <a:pt x="3308" y="5420"/>
                    <a:pt x="3245" y="5356"/>
                  </a:cubicBezTo>
                  <a:lnTo>
                    <a:pt x="1859" y="4002"/>
                  </a:lnTo>
                  <a:cubicBezTo>
                    <a:pt x="1617" y="3760"/>
                    <a:pt x="1840" y="3425"/>
                    <a:pt x="2099" y="3425"/>
                  </a:cubicBezTo>
                  <a:cubicBezTo>
                    <a:pt x="2177" y="3425"/>
                    <a:pt x="2259" y="3456"/>
                    <a:pt x="2332" y="3529"/>
                  </a:cubicBezTo>
                  <a:lnTo>
                    <a:pt x="3466" y="4663"/>
                  </a:lnTo>
                  <a:lnTo>
                    <a:pt x="5293" y="2836"/>
                  </a:lnTo>
                  <a:cubicBezTo>
                    <a:pt x="5352" y="2763"/>
                    <a:pt x="5426" y="2732"/>
                    <a:pt x="5501" y="2732"/>
                  </a:cubicBezTo>
                  <a:close/>
                  <a:moveTo>
                    <a:pt x="3781" y="1"/>
                  </a:moveTo>
                  <a:cubicBezTo>
                    <a:pt x="1702" y="1"/>
                    <a:pt x="0" y="1702"/>
                    <a:pt x="0" y="3781"/>
                  </a:cubicBezTo>
                  <a:cubicBezTo>
                    <a:pt x="0" y="5892"/>
                    <a:pt x="1702" y="7562"/>
                    <a:pt x="3781" y="7562"/>
                  </a:cubicBezTo>
                  <a:cubicBezTo>
                    <a:pt x="5860" y="7562"/>
                    <a:pt x="7562" y="5892"/>
                    <a:pt x="7562" y="3781"/>
                  </a:cubicBezTo>
                  <a:cubicBezTo>
                    <a:pt x="7562" y="1702"/>
                    <a:pt x="5860" y="1"/>
                    <a:pt x="3781" y="1"/>
                  </a:cubicBezTo>
                  <a:close/>
                </a:path>
              </a:pathLst>
            </a:custGeom>
            <a:grpFill/>
            <a:ln>
              <a:solidFill>
                <a:srgbClr val="3F3533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9450;p149">
              <a:extLst>
                <a:ext uri="{FF2B5EF4-FFF2-40B4-BE49-F238E27FC236}">
                  <a16:creationId xmlns:a16="http://schemas.microsoft.com/office/drawing/2014/main" id="{4DCC7C19-4B8A-4218-58B5-C469105C329F}"/>
                </a:ext>
              </a:extLst>
            </p:cNvPr>
            <p:cNvSpPr/>
            <p:nvPr/>
          </p:nvSpPr>
          <p:spPr>
            <a:xfrm>
              <a:off x="-3771675" y="4099950"/>
              <a:ext cx="94525" cy="76425"/>
            </a:xfrm>
            <a:custGeom>
              <a:avLst/>
              <a:gdLst/>
              <a:ahLst/>
              <a:cxnLst/>
              <a:rect l="l" t="t" r="r" b="b"/>
              <a:pathLst>
                <a:path w="3781" h="3057" extrusionOk="0">
                  <a:moveTo>
                    <a:pt x="0" y="1"/>
                  </a:moveTo>
                  <a:lnTo>
                    <a:pt x="0" y="1419"/>
                  </a:lnTo>
                  <a:cubicBezTo>
                    <a:pt x="0" y="2364"/>
                    <a:pt x="1607" y="2899"/>
                    <a:pt x="3434" y="3057"/>
                  </a:cubicBezTo>
                  <a:cubicBezTo>
                    <a:pt x="3371" y="2364"/>
                    <a:pt x="3497" y="1671"/>
                    <a:pt x="3781" y="1040"/>
                  </a:cubicBezTo>
                  <a:cubicBezTo>
                    <a:pt x="2332" y="977"/>
                    <a:pt x="819" y="662"/>
                    <a:pt x="0" y="1"/>
                  </a:cubicBezTo>
                  <a:close/>
                </a:path>
              </a:pathLst>
            </a:custGeom>
            <a:grpFill/>
            <a:ln>
              <a:solidFill>
                <a:srgbClr val="3F3533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9451;p149">
              <a:extLst>
                <a:ext uri="{FF2B5EF4-FFF2-40B4-BE49-F238E27FC236}">
                  <a16:creationId xmlns:a16="http://schemas.microsoft.com/office/drawing/2014/main" id="{90AB866F-B252-6310-4C9F-7BA532582CE3}"/>
                </a:ext>
              </a:extLst>
            </p:cNvPr>
            <p:cNvSpPr/>
            <p:nvPr/>
          </p:nvSpPr>
          <p:spPr>
            <a:xfrm>
              <a:off x="-3771675" y="4167700"/>
              <a:ext cx="135500" cy="95325"/>
            </a:xfrm>
            <a:custGeom>
              <a:avLst/>
              <a:gdLst/>
              <a:ahLst/>
              <a:cxnLst/>
              <a:rect l="l" t="t" r="r" b="b"/>
              <a:pathLst>
                <a:path w="5420" h="3813" extrusionOk="0">
                  <a:moveTo>
                    <a:pt x="0" y="0"/>
                  </a:moveTo>
                  <a:lnTo>
                    <a:pt x="0" y="2111"/>
                  </a:lnTo>
                  <a:cubicBezTo>
                    <a:pt x="0" y="3277"/>
                    <a:pt x="2237" y="3812"/>
                    <a:pt x="4443" y="3812"/>
                  </a:cubicBezTo>
                  <a:cubicBezTo>
                    <a:pt x="4789" y="3812"/>
                    <a:pt x="5104" y="3812"/>
                    <a:pt x="5419" y="3781"/>
                  </a:cubicBezTo>
                  <a:cubicBezTo>
                    <a:pt x="4474" y="3151"/>
                    <a:pt x="3781" y="2206"/>
                    <a:pt x="3529" y="1071"/>
                  </a:cubicBezTo>
                  <a:cubicBezTo>
                    <a:pt x="2174" y="977"/>
                    <a:pt x="788" y="662"/>
                    <a:pt x="0" y="0"/>
                  </a:cubicBezTo>
                  <a:close/>
                </a:path>
              </a:pathLst>
            </a:custGeom>
            <a:grpFill/>
            <a:ln>
              <a:solidFill>
                <a:srgbClr val="3F3533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918867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3">
          <a:extLst>
            <a:ext uri="{FF2B5EF4-FFF2-40B4-BE49-F238E27FC236}">
              <a16:creationId xmlns:a16="http://schemas.microsoft.com/office/drawing/2014/main" id="{2611C99F-CBD4-F9F5-AAC3-157619667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9A155DDC-3EB4-0C0C-5F4C-8C687AA183B6}"/>
              </a:ext>
            </a:extLst>
          </p:cNvPr>
          <p:cNvSpPr txBox="1"/>
          <p:nvPr/>
        </p:nvSpPr>
        <p:spPr>
          <a:xfrm>
            <a:off x="2582406" y="2110085"/>
            <a:ext cx="465336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5400" dirty="0">
                <a:latin typeface="AlphabetSoup Tilt BT" panose="04020905020B06060204" pitchFamily="82" charset="0"/>
              </a:rPr>
              <a:t>Live Demo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24393503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3">
          <a:extLst>
            <a:ext uri="{FF2B5EF4-FFF2-40B4-BE49-F238E27FC236}">
              <a16:creationId xmlns:a16="http://schemas.microsoft.com/office/drawing/2014/main" id="{E625FC9F-3055-A362-30D9-59C5E6B8C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61">
            <a:extLst>
              <a:ext uri="{FF2B5EF4-FFF2-40B4-BE49-F238E27FC236}">
                <a16:creationId xmlns:a16="http://schemas.microsoft.com/office/drawing/2014/main" id="{0278648F-0175-AE2F-FC43-4A5B8EA0A5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711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Montserrat" panose="00000500000000000000" pitchFamily="2" charset="-52"/>
              </a:rPr>
              <a:t>Заключение</a:t>
            </a:r>
            <a:endParaRPr dirty="0">
              <a:latin typeface="Montserrat" panose="00000500000000000000" pitchFamily="2" charset="-5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45FB74-ABD4-C734-1CF6-E3A5532E09B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712788" y="1582173"/>
            <a:ext cx="8113497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14300" indent="0">
              <a:buNone/>
            </a:pPr>
            <a:r>
              <a:rPr lang="ru-RU" sz="1400" b="1" dirty="0"/>
              <a:t>Выводы:</a:t>
            </a:r>
          </a:p>
          <a:p>
            <a:r>
              <a:rPr lang="ru-RU" sz="1400" dirty="0"/>
              <a:t>Реализовал модуль </a:t>
            </a:r>
            <a:r>
              <a:rPr lang="ru-RU" sz="1400" dirty="0" err="1"/>
              <a:t>дизаккумуляции</a:t>
            </a:r>
            <a:r>
              <a:rPr lang="ru-RU" sz="1400" dirty="0"/>
              <a:t> прогноза, который преобразует агрегированный прогноз в целевую временную гранулярность (DAY / WEEK.2).</a:t>
            </a:r>
          </a:p>
          <a:p>
            <a:r>
              <a:rPr lang="ru-RU" sz="1400" dirty="0"/>
              <a:t>Обеспечил корректное распределение значений по дням/неделям с сохранением общего объёма по каждой комбинации </a:t>
            </a:r>
            <a:r>
              <a:rPr lang="ru-RU" dirty="0"/>
              <a:t>PRODUCT_ID–LOCATION_ID–…</a:t>
            </a:r>
            <a:r>
              <a:rPr lang="ru-RU" sz="1400" dirty="0"/>
              <a:t>.</a:t>
            </a:r>
          </a:p>
          <a:p>
            <a:r>
              <a:rPr lang="ru-RU" sz="1400" dirty="0"/>
              <a:t>Проверил работу модуля на синтетических данных, построил визуализации “до/после”, которые демонстрируют корректность </a:t>
            </a:r>
            <a:r>
              <a:rPr lang="ru-RU" sz="1400" dirty="0" err="1"/>
              <a:t>дизаккумуляции</a:t>
            </a:r>
            <a:r>
              <a:rPr lang="ru-RU" sz="1400" dirty="0"/>
              <a:t>.</a:t>
            </a:r>
          </a:p>
          <a:p>
            <a:pPr marL="114300" indent="0">
              <a:buNone/>
            </a:pPr>
            <a:r>
              <a:rPr lang="ru-RU" sz="1400" b="1" dirty="0"/>
              <a:t>Как можно улучшить результат:</a:t>
            </a:r>
          </a:p>
          <a:p>
            <a:r>
              <a:rPr lang="ru-RU" sz="1400" dirty="0"/>
              <a:t>Добавить поддержку других временных уровней (например, декады, финансовые недели клиента) и более гибкой логики распределения (не только равномерно по дням, но и с учётом спроса).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14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6699937"/>
      </p:ext>
    </p:extLst>
  </p:cSld>
  <p:clrMapOvr>
    <a:masterClrMapping/>
  </p:clrMapOvr>
</p:sld>
</file>

<file path=ppt/theme/theme1.xml><?xml version="1.0" encoding="utf-8"?>
<a:theme xmlns:a="http://schemas.openxmlformats.org/drawingml/2006/main" name="Minimalist Business Slides XL by Slidesgo">
  <a:themeElements>
    <a:clrScheme name="Simple Light">
      <a:dk1>
        <a:srgbClr val="000000"/>
      </a:dk1>
      <a:lt1>
        <a:srgbClr val="F5F2EE"/>
      </a:lt1>
      <a:dk2>
        <a:srgbClr val="000000"/>
      </a:dk2>
      <a:lt2>
        <a:srgbClr val="EEEEEE"/>
      </a:lt2>
      <a:accent1>
        <a:srgbClr val="3F3533"/>
      </a:accent1>
      <a:accent2>
        <a:srgbClr val="3F3533"/>
      </a:accent2>
      <a:accent3>
        <a:srgbClr val="3F3533"/>
      </a:accent3>
      <a:accent4>
        <a:srgbClr val="3F3533"/>
      </a:accent4>
      <a:accent5>
        <a:srgbClr val="3F3533"/>
      </a:accent5>
      <a:accent6>
        <a:srgbClr val="3F3533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791</Words>
  <Application>Microsoft Office PowerPoint</Application>
  <PresentationFormat>Экран (16:9)</PresentationFormat>
  <Paragraphs>75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20" baseType="lpstr">
      <vt:lpstr>Merriweather Light</vt:lpstr>
      <vt:lpstr>AlphabetSoup Tilt BT</vt:lpstr>
      <vt:lpstr>Lato</vt:lpstr>
      <vt:lpstr>Montserrat</vt:lpstr>
      <vt:lpstr>Vidaloka</vt:lpstr>
      <vt:lpstr>Arial</vt:lpstr>
      <vt:lpstr>Crimson Text</vt:lpstr>
      <vt:lpstr>Minimalist Business Slides XL by Slidesgo</vt:lpstr>
      <vt:lpstr>Разработка e2e пайплайна прогнозирования спроса в ритейле</vt:lpstr>
      <vt:lpstr>e2e процесс прогнзировния спроса</vt:lpstr>
      <vt:lpstr>Данные на входе шага</vt:lpstr>
      <vt:lpstr>Данные на выходе шага</vt:lpstr>
      <vt:lpstr>Презентация PowerPoint</vt:lpstr>
      <vt:lpstr>Заключение</vt:lpstr>
      <vt:lpstr>Разработка e2e пайплайна прогнозирования спроса в ритейле</vt:lpstr>
      <vt:lpstr>e2e процесс прогнзировния спроса</vt:lpstr>
      <vt:lpstr>Данные на входе шага</vt:lpstr>
      <vt:lpstr>Данные на выходе шага</vt:lpstr>
      <vt:lpstr>Презентация PowerPoint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serezha shub</cp:lastModifiedBy>
  <cp:revision>2</cp:revision>
  <dcterms:modified xsi:type="dcterms:W3CDTF">2025-12-13T22:17:21Z</dcterms:modified>
</cp:coreProperties>
</file>