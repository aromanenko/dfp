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5"/>
  </p:notesMasterIdLst>
  <p:sldIdLst>
    <p:sldId id="256" r:id="rId2"/>
    <p:sldId id="260" r:id="rId3"/>
    <p:sldId id="349" r:id="rId4"/>
    <p:sldId id="348" r:id="rId5"/>
    <p:sldId id="350" r:id="rId6"/>
    <p:sldId id="351" r:id="rId7"/>
    <p:sldId id="352" r:id="rId8"/>
    <p:sldId id="353" r:id="rId9"/>
    <p:sldId id="355" r:id="rId10"/>
    <p:sldId id="356" r:id="rId11"/>
    <p:sldId id="354" r:id="rId12"/>
    <p:sldId id="357" r:id="rId13"/>
    <p:sldId id="358" r:id="rId14"/>
  </p:sldIdLst>
  <p:sldSz cx="9144000" cy="5143500" type="screen16x9"/>
  <p:notesSz cx="6858000" cy="9144000"/>
  <p:embeddedFontLst>
    <p:embeddedFont>
      <p:font typeface="AlphabetSoup Tilt BT" panose="04020905020B06060204" pitchFamily="82" charset="0"/>
      <p:regular r:id="rId16"/>
    </p:embeddedFont>
    <p:embeddedFont>
      <p:font typeface="Andalus" panose="02020603050405020304" pitchFamily="18" charset="-78"/>
      <p:regular r:id="rId17"/>
    </p:embeddedFont>
    <p:embeddedFont>
      <p:font typeface="Crimson Text" panose="020B0604020202020204" charset="0"/>
      <p:regular r:id="rId18"/>
      <p:bold r:id="rId19"/>
      <p:italic r:id="rId20"/>
      <p:boldItalic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Merriweather Light" panose="00000400000000000000" pitchFamily="2" charset="-52"/>
      <p:regular r:id="rId26"/>
      <p:bold r:id="rId27"/>
      <p:italic r:id="rId28"/>
      <p:boldItalic r:id="rId29"/>
    </p:embeddedFont>
    <p:embeddedFont>
      <p:font typeface="Montserrat" panose="00000500000000000000" pitchFamily="2" charset="-52"/>
      <p:regular r:id="rId30"/>
      <p:bold r:id="rId31"/>
      <p:italic r:id="rId32"/>
      <p:boldItalic r:id="rId33"/>
    </p:embeddedFont>
    <p:embeddedFont>
      <p:font typeface="Vidaloka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3533"/>
    <a:srgbClr val="4A41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D160FF-94B8-45FA-BD9D-0CE8BFD0F706}">
  <a:tblStyle styleId="{C3D160FF-94B8-45FA-BD9D-0CE8BFD0F7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72C3A3B0-407F-EBF8-23AE-9515058AF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cc7554a049_0_438:notes">
            <a:extLst>
              <a:ext uri="{FF2B5EF4-FFF2-40B4-BE49-F238E27FC236}">
                <a16:creationId xmlns:a16="http://schemas.microsoft.com/office/drawing/2014/main" id="{6EB0063A-D0EF-AE62-B07C-9A05D9D554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cc7554a049_0_438:notes">
            <a:extLst>
              <a:ext uri="{FF2B5EF4-FFF2-40B4-BE49-F238E27FC236}">
                <a16:creationId xmlns:a16="http://schemas.microsoft.com/office/drawing/2014/main" id="{287A7C98-6ABC-2A11-6704-54415A0E2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746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74007474-9520-142E-DDD4-617D5147C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cc7554a049_0_438:notes">
            <a:extLst>
              <a:ext uri="{FF2B5EF4-FFF2-40B4-BE49-F238E27FC236}">
                <a16:creationId xmlns:a16="http://schemas.microsoft.com/office/drawing/2014/main" id="{5003A52E-8DC9-7101-477F-E18665A2B0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cc7554a049_0_438:notes">
            <a:extLst>
              <a:ext uri="{FF2B5EF4-FFF2-40B4-BE49-F238E27FC236}">
                <a16:creationId xmlns:a16="http://schemas.microsoft.com/office/drawing/2014/main" id="{B77C0344-481E-2B4E-3DED-46D3D9D19D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772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3B73A325-2AE2-C888-D66E-4576E6862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cc7554a049_0_438:notes">
            <a:extLst>
              <a:ext uri="{FF2B5EF4-FFF2-40B4-BE49-F238E27FC236}">
                <a16:creationId xmlns:a16="http://schemas.microsoft.com/office/drawing/2014/main" id="{494AA265-6019-4089-6588-A8DD15C77D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cc7554a049_0_438:notes">
            <a:extLst>
              <a:ext uri="{FF2B5EF4-FFF2-40B4-BE49-F238E27FC236}">
                <a16:creationId xmlns:a16="http://schemas.microsoft.com/office/drawing/2014/main" id="{AD1B3FA1-913E-4E72-272E-55BAB7F5F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2509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2E6403C8-4FD2-1054-B9F5-6743B7F8F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161F6B3F-C0F6-608C-FF9F-5030BDB3DE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731B0F38-D256-D7AC-CEF7-77EACA270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2313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>
          <a:extLst>
            <a:ext uri="{FF2B5EF4-FFF2-40B4-BE49-F238E27FC236}">
              <a16:creationId xmlns:a16="http://schemas.microsoft.com/office/drawing/2014/main" id="{A61007C7-CF93-6FF7-61FF-38B906BF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>
            <a:extLst>
              <a:ext uri="{FF2B5EF4-FFF2-40B4-BE49-F238E27FC236}">
                <a16:creationId xmlns:a16="http://schemas.microsoft.com/office/drawing/2014/main" id="{DC35223F-EFB9-FE75-8A48-46FE9FD29A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>
            <a:extLst>
              <a:ext uri="{FF2B5EF4-FFF2-40B4-BE49-F238E27FC236}">
                <a16:creationId xmlns:a16="http://schemas.microsoft.com/office/drawing/2014/main" id="{848EBD0A-55E8-4730-16A1-83D340DC32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7370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>
          <a:extLst>
            <a:ext uri="{FF2B5EF4-FFF2-40B4-BE49-F238E27FC236}">
              <a16:creationId xmlns:a16="http://schemas.microsoft.com/office/drawing/2014/main" id="{DDD93A66-E07E-187F-9F2E-23DC9F86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>
            <a:extLst>
              <a:ext uri="{FF2B5EF4-FFF2-40B4-BE49-F238E27FC236}">
                <a16:creationId xmlns:a16="http://schemas.microsoft.com/office/drawing/2014/main" id="{A174CC74-947A-242D-09A2-FE9BFCDE9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>
            <a:extLst>
              <a:ext uri="{FF2B5EF4-FFF2-40B4-BE49-F238E27FC236}">
                <a16:creationId xmlns:a16="http://schemas.microsoft.com/office/drawing/2014/main" id="{0ECEF71B-609F-FBB8-0357-179096AA1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5111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>
          <a:extLst>
            <a:ext uri="{FF2B5EF4-FFF2-40B4-BE49-F238E27FC236}">
              <a16:creationId xmlns:a16="http://schemas.microsoft.com/office/drawing/2014/main" id="{ED00DF73-C31F-B44D-525D-B3D89FFCD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cc7554a049_0_374:notes">
            <a:extLst>
              <a:ext uri="{FF2B5EF4-FFF2-40B4-BE49-F238E27FC236}">
                <a16:creationId xmlns:a16="http://schemas.microsoft.com/office/drawing/2014/main" id="{571DCECF-5378-3419-2664-E21B889F3B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cc7554a049_0_374:notes">
            <a:extLst>
              <a:ext uri="{FF2B5EF4-FFF2-40B4-BE49-F238E27FC236}">
                <a16:creationId xmlns:a16="http://schemas.microsoft.com/office/drawing/2014/main" id="{654BEB2E-E7FF-DCDC-ED4B-FDBBDDB557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3049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C8D68D80-293D-5C2C-B362-2DA86A2A6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cc7554a049_0_438:notes">
            <a:extLst>
              <a:ext uri="{FF2B5EF4-FFF2-40B4-BE49-F238E27FC236}">
                <a16:creationId xmlns:a16="http://schemas.microsoft.com/office/drawing/2014/main" id="{C364C854-004C-2273-0DD2-A0BF58367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cc7554a049_0_438:notes">
            <a:extLst>
              <a:ext uri="{FF2B5EF4-FFF2-40B4-BE49-F238E27FC236}">
                <a16:creationId xmlns:a16="http://schemas.microsoft.com/office/drawing/2014/main" id="{34D7EEDA-288D-E610-713A-8E6BEDAAEF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85070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C01F9E99-835B-D794-045C-B0F25731E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cc7554a049_0_438:notes">
            <a:extLst>
              <a:ext uri="{FF2B5EF4-FFF2-40B4-BE49-F238E27FC236}">
                <a16:creationId xmlns:a16="http://schemas.microsoft.com/office/drawing/2014/main" id="{A33FBD65-38B7-B24A-8238-959F269B05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cc7554a049_0_438:notes">
            <a:extLst>
              <a:ext uri="{FF2B5EF4-FFF2-40B4-BE49-F238E27FC236}">
                <a16:creationId xmlns:a16="http://schemas.microsoft.com/office/drawing/2014/main" id="{EAAECF28-0A23-6467-25B0-899FE8F6C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69509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8690E2F3-5B6A-4470-B1F6-D61FC6B4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6454D27E-CFB3-6DC4-A7D1-E61A065B25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963CA533-8A44-F8F3-E0E2-61A1380BCB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0805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>
          <a:extLst>
            <a:ext uri="{FF2B5EF4-FFF2-40B4-BE49-F238E27FC236}">
              <a16:creationId xmlns:a16="http://schemas.microsoft.com/office/drawing/2014/main" id="{99ABF9C9-47FA-798B-8155-1930FA398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cc7554a049_0_438:notes">
            <a:extLst>
              <a:ext uri="{FF2B5EF4-FFF2-40B4-BE49-F238E27FC236}">
                <a16:creationId xmlns:a16="http://schemas.microsoft.com/office/drawing/2014/main" id="{74DE5232-FB03-F569-BA0A-AA74EE7654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cc7554a049_0_438:notes">
            <a:extLst>
              <a:ext uri="{FF2B5EF4-FFF2-40B4-BE49-F238E27FC236}">
                <a16:creationId xmlns:a16="http://schemas.microsoft.com/office/drawing/2014/main" id="{365D5E4F-4F49-B026-7C0F-8A32867982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5523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>
            <a:spLocks noGrp="1"/>
          </p:cNvSpPr>
          <p:nvPr>
            <p:ph type="subTitle" idx="1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32" name="Google Shape;232;p31"/>
          <p:cNvSpPr txBox="1">
            <a:spLocks noGrp="1"/>
          </p:cNvSpPr>
          <p:nvPr>
            <p:ph type="subTitle" idx="2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1"/>
          <p:cNvSpPr txBox="1">
            <a:spLocks noGrp="1"/>
          </p:cNvSpPr>
          <p:nvPr>
            <p:ph type="subTitle" idx="3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34" name="Google Shape;234;p31"/>
          <p:cNvSpPr txBox="1">
            <a:spLocks noGrp="1"/>
          </p:cNvSpPr>
          <p:nvPr>
            <p:ph type="subTitle" idx="4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1"/>
          <p:cNvSpPr txBox="1">
            <a:spLocks noGrp="1"/>
          </p:cNvSpPr>
          <p:nvPr>
            <p:ph type="subTitle" idx="5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36" name="Google Shape;236;p31"/>
          <p:cNvSpPr txBox="1">
            <a:spLocks noGrp="1"/>
          </p:cNvSpPr>
          <p:nvPr>
            <p:ph type="subTitle" idx="6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238" name="Google Shape;238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5" r:id="rId4"/>
    <p:sldLayoutId id="2147483658" r:id="rId5"/>
    <p:sldLayoutId id="2147483661" r:id="rId6"/>
    <p:sldLayoutId id="2147483677" r:id="rId7"/>
    <p:sldLayoutId id="2147483697" r:id="rId8"/>
    <p:sldLayoutId id="2147483698" r:id="rId9"/>
    <p:sldLayoutId id="2147483699" r:id="rId10"/>
    <p:sldLayoutId id="214748370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000" dirty="0"/>
              <a:t>Development of an end-to-end demand forecasting pipeline for retail</a:t>
            </a:r>
            <a:endParaRPr sz="4000"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039950" y="3229628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400" dirty="0">
                <a:solidFill>
                  <a:schemeClr val="tx1"/>
                </a:solidFill>
              </a:rPr>
              <a:t>Input DQ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5D0D2-69CA-ECB5-586D-FF7D0BEADD5A}"/>
              </a:ext>
            </a:extLst>
          </p:cNvPr>
          <p:cNvSpPr txBox="1"/>
          <p:nvPr/>
        </p:nvSpPr>
        <p:spPr>
          <a:xfrm>
            <a:off x="3441248" y="3965957"/>
            <a:ext cx="48904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Montserrat"/>
              </a:rPr>
              <a:t>Шуб Сергей </a:t>
            </a:r>
            <a:r>
              <a:rPr lang="ru-RU" sz="1600" dirty="0">
                <a:solidFill>
                  <a:schemeClr val="tx1"/>
                </a:solidFill>
                <a:latin typeface="Montserrat"/>
                <a:sym typeface="Montserrat"/>
              </a:rPr>
              <a:t>Алексеевич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1;p14">
            <a:extLst>
              <a:ext uri="{FF2B5EF4-FFF2-40B4-BE49-F238E27FC236}">
                <a16:creationId xmlns:a16="http://schemas.microsoft.com/office/drawing/2014/main" id="{4398F9AB-2A7B-FBC7-46AA-300C2FED34D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488" y="917757"/>
            <a:ext cx="8371024" cy="347382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Облачко с текстом: прямоугольное 6">
            <a:extLst>
              <a:ext uri="{FF2B5EF4-FFF2-40B4-BE49-F238E27FC236}">
                <a16:creationId xmlns:a16="http://schemas.microsoft.com/office/drawing/2014/main" id="{839FF218-AB39-518D-8C7D-29AC9B531723}"/>
              </a:ext>
            </a:extLst>
          </p:cNvPr>
          <p:cNvSpPr/>
          <p:nvPr/>
        </p:nvSpPr>
        <p:spPr>
          <a:xfrm rot="10800000">
            <a:off x="278352" y="2259754"/>
            <a:ext cx="1544491" cy="2128478"/>
          </a:xfrm>
          <a:prstGeom prst="wedgeRectCallout">
            <a:avLst>
              <a:gd name="adj1" fmla="val -41860"/>
              <a:gd name="adj2" fmla="val 79829"/>
            </a:avLst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C88CDC-6E58-3726-2324-502574B3572C}"/>
              </a:ext>
            </a:extLst>
          </p:cNvPr>
          <p:cNvSpPr txBox="1"/>
          <p:nvPr/>
        </p:nvSpPr>
        <p:spPr>
          <a:xfrm>
            <a:off x="343521" y="2342793"/>
            <a:ext cx="141415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What it does and why:</a:t>
            </a:r>
          </a:p>
          <a:p>
            <a:r>
              <a:rPr lang="en-US" sz="1000" dirty="0"/>
              <a:t>Check that required tables exist</a:t>
            </a:r>
          </a:p>
          <a:p>
            <a:r>
              <a:rPr lang="en-US" sz="1000" dirty="0"/>
              <a:t>Validate values are non-negative</a:t>
            </a:r>
          </a:p>
          <a:p>
            <a:r>
              <a:rPr lang="en-US" sz="1000" dirty="0"/>
              <a:t>Cross-check keys</a:t>
            </a:r>
          </a:p>
          <a:p>
            <a:r>
              <a:rPr lang="en-US" sz="1000" dirty="0"/>
              <a:t>Temporal cross-check</a:t>
            </a:r>
          </a:p>
          <a:p>
            <a:r>
              <a:rPr lang="en-US" sz="1000" dirty="0"/>
              <a:t>Why it’s needed:</a:t>
            </a:r>
            <a:br>
              <a:rPr lang="en-US" sz="1000" dirty="0"/>
            </a:br>
            <a:r>
              <a:rPr lang="en-US" sz="1000" dirty="0"/>
              <a:t>to prevent “broken” data from going further in the pipeline</a:t>
            </a:r>
          </a:p>
        </p:txBody>
      </p:sp>
      <p:sp>
        <p:nvSpPr>
          <p:cNvPr id="10" name="Google Shape;60;p14">
            <a:extLst>
              <a:ext uri="{FF2B5EF4-FFF2-40B4-BE49-F238E27FC236}">
                <a16:creationId xmlns:a16="http://schemas.microsoft.com/office/drawing/2014/main" id="{E6987EB5-700C-236B-18DF-7B3AC37389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8352" y="34505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42900">
              <a:buClr>
                <a:schemeClr val="dk2"/>
              </a:buClr>
              <a:buSzPts val="1400"/>
              <a:buFont typeface="Montserrat"/>
            </a:pPr>
            <a:r>
              <a:rPr lang="en-US" sz="2800" dirty="0">
                <a:solidFill>
                  <a:schemeClr val="dk2"/>
                </a:solidFill>
                <a:latin typeface="Montserrat"/>
                <a:sym typeface="Montserrat"/>
              </a:rPr>
              <a:t>end-to-end demand forecasting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id="{0DB6D388-955B-C24F-BCE2-7EDE61B6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90">
            <a:extLst>
              <a:ext uri="{FF2B5EF4-FFF2-40B4-BE49-F238E27FC236}">
                <a16:creationId xmlns:a16="http://schemas.microsoft.com/office/drawing/2014/main" id="{AA3779B1-8D35-348C-4213-F4D2A39F0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Input data for the step</a:t>
            </a:r>
          </a:p>
        </p:txBody>
      </p:sp>
      <p:sp>
        <p:nvSpPr>
          <p:cNvPr id="885" name="Google Shape;885;p90">
            <a:extLst>
              <a:ext uri="{FF2B5EF4-FFF2-40B4-BE49-F238E27FC236}">
                <a16:creationId xmlns:a16="http://schemas.microsoft.com/office/drawing/2014/main" id="{707362CC-1F12-B230-9F72-CDA9636612E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44307" y="2558849"/>
            <a:ext cx="325265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Numeric metrics</a:t>
            </a:r>
          </a:p>
        </p:txBody>
      </p:sp>
      <p:sp>
        <p:nvSpPr>
          <p:cNvPr id="886" name="Google Shape;886;p90">
            <a:extLst>
              <a:ext uri="{FF2B5EF4-FFF2-40B4-BE49-F238E27FC236}">
                <a16:creationId xmlns:a16="http://schemas.microsoft.com/office/drawing/2014/main" id="{55EE716E-CEB1-37AE-1E73-5E8A46E3B16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294025" y="2948247"/>
            <a:ext cx="255575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SALES_QTY, STOCK_QTY, SELL_IN_QTY, SELL_OUT_QTY, PRICE, PROMO_PRICE </a:t>
            </a:r>
            <a:r>
              <a:rPr lang="ru-RU" dirty="0"/>
              <a:t>-</a:t>
            </a:r>
            <a:r>
              <a:rPr lang="en-US" dirty="0"/>
              <a:t> non-negativity checks</a:t>
            </a:r>
          </a:p>
        </p:txBody>
      </p:sp>
      <p:sp>
        <p:nvSpPr>
          <p:cNvPr id="887" name="Google Shape;887;p90">
            <a:extLst>
              <a:ext uri="{FF2B5EF4-FFF2-40B4-BE49-F238E27FC236}">
                <a16:creationId xmlns:a16="http://schemas.microsoft.com/office/drawing/2014/main" id="{A25C7D83-5F23-8979-13BC-9863CAC3ED5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Set of tables</a:t>
            </a:r>
          </a:p>
        </p:txBody>
      </p:sp>
      <p:sp>
        <p:nvSpPr>
          <p:cNvPr id="888" name="Google Shape;888;p90">
            <a:extLst>
              <a:ext uri="{FF2B5EF4-FFF2-40B4-BE49-F238E27FC236}">
                <a16:creationId xmlns:a16="http://schemas.microsoft.com/office/drawing/2014/main" id="{F8B47FF2-5BF4-4585-B0A6-4C2ECB8E7D7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53125" y="2948247"/>
            <a:ext cx="2126100" cy="1542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/>
              <a:t>Client DDS tables in the IN_</a:t>
            </a:r>
            <a:r>
              <a:rPr lang="en-US" i="1" dirty="0"/>
              <a:t>.(DPS_</a:t>
            </a:r>
            <a:r>
              <a:rPr lang="en-US" dirty="0"/>
              <a:t>) format, which we validate for data quality</a:t>
            </a:r>
          </a:p>
        </p:txBody>
      </p:sp>
      <p:sp>
        <p:nvSpPr>
          <p:cNvPr id="889" name="Google Shape;889;p90">
            <a:extLst>
              <a:ext uri="{FF2B5EF4-FFF2-40B4-BE49-F238E27FC236}">
                <a16:creationId xmlns:a16="http://schemas.microsoft.com/office/drawing/2014/main" id="{8DFC3509-8A5F-C61E-42BA-1E4EA723CDE4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064775" y="2532051"/>
            <a:ext cx="21262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Keys and calendar</a:t>
            </a:r>
          </a:p>
        </p:txBody>
      </p:sp>
      <p:sp>
        <p:nvSpPr>
          <p:cNvPr id="890" name="Google Shape;890;p90">
            <a:extLst>
              <a:ext uri="{FF2B5EF4-FFF2-40B4-BE49-F238E27FC236}">
                <a16:creationId xmlns:a16="http://schemas.microsoft.com/office/drawing/2014/main" id="{1258F5C5-EC9C-5FF0-3CDE-75D58225964D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064775" y="3382284"/>
            <a:ext cx="2791554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PRODUCT_ID, LOCATION_ID, CUSTOMER_ID, DISTR_CHANNEL_ID, PERIOD_DT are the basis for cross-checks across relationships and time gaps.</a:t>
            </a:r>
            <a:endParaRPr dirty="0"/>
          </a:p>
        </p:txBody>
      </p:sp>
      <p:grpSp>
        <p:nvGrpSpPr>
          <p:cNvPr id="2" name="Google Shape;8609;p147">
            <a:extLst>
              <a:ext uri="{FF2B5EF4-FFF2-40B4-BE49-F238E27FC236}">
                <a16:creationId xmlns:a16="http://schemas.microsoft.com/office/drawing/2014/main" id="{7E610F36-7476-1E84-3D58-29FCD039C0D8}"/>
              </a:ext>
            </a:extLst>
          </p:cNvPr>
          <p:cNvGrpSpPr/>
          <p:nvPr/>
        </p:nvGrpSpPr>
        <p:grpSpPr>
          <a:xfrm>
            <a:off x="1703139" y="1996113"/>
            <a:ext cx="625871" cy="572700"/>
            <a:chOff x="-45673275" y="3199325"/>
            <a:chExt cx="299325" cy="302075"/>
          </a:xfrm>
          <a:solidFill>
            <a:srgbClr val="3F3533"/>
          </a:solidFill>
        </p:grpSpPr>
        <p:sp>
          <p:nvSpPr>
            <p:cNvPr id="3" name="Google Shape;8610;p147">
              <a:extLst>
                <a:ext uri="{FF2B5EF4-FFF2-40B4-BE49-F238E27FC236}">
                  <a16:creationId xmlns:a16="http://schemas.microsoft.com/office/drawing/2014/main" id="{34C07B52-BFBC-B7ED-D279-B061FB662040}"/>
                </a:ext>
              </a:extLst>
            </p:cNvPr>
            <p:cNvSpPr/>
            <p:nvPr/>
          </p:nvSpPr>
          <p:spPr>
            <a:xfrm>
              <a:off x="-45672500" y="3199325"/>
              <a:ext cx="298550" cy="194175"/>
            </a:xfrm>
            <a:custGeom>
              <a:avLst/>
              <a:gdLst/>
              <a:ahLst/>
              <a:cxnLst/>
              <a:rect l="l" t="t" r="r" b="b"/>
              <a:pathLst>
                <a:path w="11942" h="7767" extrusionOk="0">
                  <a:moveTo>
                    <a:pt x="5947" y="0"/>
                  </a:moveTo>
                  <a:cubicBezTo>
                    <a:pt x="5884" y="0"/>
                    <a:pt x="5829" y="16"/>
                    <a:pt x="5798" y="47"/>
                  </a:cubicBezTo>
                  <a:lnTo>
                    <a:pt x="158" y="3607"/>
                  </a:lnTo>
                  <a:cubicBezTo>
                    <a:pt x="32" y="3670"/>
                    <a:pt x="1" y="3765"/>
                    <a:pt x="1" y="3922"/>
                  </a:cubicBezTo>
                  <a:cubicBezTo>
                    <a:pt x="1" y="4017"/>
                    <a:pt x="64" y="4143"/>
                    <a:pt x="158" y="4237"/>
                  </a:cubicBezTo>
                  <a:lnTo>
                    <a:pt x="5735" y="7735"/>
                  </a:lnTo>
                  <a:cubicBezTo>
                    <a:pt x="5798" y="7766"/>
                    <a:pt x="5861" y="7766"/>
                    <a:pt x="5955" y="7766"/>
                  </a:cubicBezTo>
                  <a:cubicBezTo>
                    <a:pt x="6018" y="7766"/>
                    <a:pt x="6050" y="7766"/>
                    <a:pt x="6144" y="7735"/>
                  </a:cubicBezTo>
                  <a:lnTo>
                    <a:pt x="11784" y="4237"/>
                  </a:lnTo>
                  <a:cubicBezTo>
                    <a:pt x="11878" y="4143"/>
                    <a:pt x="11941" y="4080"/>
                    <a:pt x="11941" y="3922"/>
                  </a:cubicBezTo>
                  <a:cubicBezTo>
                    <a:pt x="11941" y="3796"/>
                    <a:pt x="11847" y="3670"/>
                    <a:pt x="11784" y="3607"/>
                  </a:cubicBezTo>
                  <a:lnTo>
                    <a:pt x="6144" y="47"/>
                  </a:lnTo>
                  <a:cubicBezTo>
                    <a:pt x="6081" y="16"/>
                    <a:pt x="6010" y="0"/>
                    <a:pt x="59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611;p147">
              <a:extLst>
                <a:ext uri="{FF2B5EF4-FFF2-40B4-BE49-F238E27FC236}">
                  <a16:creationId xmlns:a16="http://schemas.microsoft.com/office/drawing/2014/main" id="{782C8BB0-E8A6-5DB2-E3DD-3DB4704E5948}"/>
                </a:ext>
              </a:extLst>
            </p:cNvPr>
            <p:cNvSpPr/>
            <p:nvPr/>
          </p:nvSpPr>
          <p:spPr>
            <a:xfrm>
              <a:off x="-45673275" y="3387150"/>
              <a:ext cx="299325" cy="114250"/>
            </a:xfrm>
            <a:custGeom>
              <a:avLst/>
              <a:gdLst/>
              <a:ahLst/>
              <a:cxnLst/>
              <a:rect l="l" t="t" r="r" b="b"/>
              <a:pathLst>
                <a:path w="11973" h="4570" extrusionOk="0">
                  <a:moveTo>
                    <a:pt x="693" y="1"/>
                  </a:moveTo>
                  <a:lnTo>
                    <a:pt x="158" y="348"/>
                  </a:lnTo>
                  <a:cubicBezTo>
                    <a:pt x="32" y="411"/>
                    <a:pt x="0" y="505"/>
                    <a:pt x="0" y="663"/>
                  </a:cubicBezTo>
                  <a:cubicBezTo>
                    <a:pt x="0" y="789"/>
                    <a:pt x="63" y="883"/>
                    <a:pt x="158" y="978"/>
                  </a:cubicBezTo>
                  <a:lnTo>
                    <a:pt x="5797" y="4506"/>
                  </a:lnTo>
                  <a:cubicBezTo>
                    <a:pt x="5829" y="4569"/>
                    <a:pt x="5892" y="4569"/>
                    <a:pt x="5986" y="4569"/>
                  </a:cubicBezTo>
                  <a:cubicBezTo>
                    <a:pt x="6049" y="4569"/>
                    <a:pt x="6112" y="4569"/>
                    <a:pt x="6175" y="4506"/>
                  </a:cubicBezTo>
                  <a:lnTo>
                    <a:pt x="11815" y="978"/>
                  </a:lnTo>
                  <a:cubicBezTo>
                    <a:pt x="11941" y="883"/>
                    <a:pt x="11972" y="820"/>
                    <a:pt x="11972" y="663"/>
                  </a:cubicBezTo>
                  <a:cubicBezTo>
                    <a:pt x="11972" y="537"/>
                    <a:pt x="11878" y="411"/>
                    <a:pt x="11815" y="348"/>
                  </a:cubicBezTo>
                  <a:lnTo>
                    <a:pt x="11248" y="1"/>
                  </a:lnTo>
                  <a:lnTo>
                    <a:pt x="6175" y="3151"/>
                  </a:lnTo>
                  <a:cubicBezTo>
                    <a:pt x="6144" y="3183"/>
                    <a:pt x="6049" y="3183"/>
                    <a:pt x="5986" y="3183"/>
                  </a:cubicBezTo>
                  <a:cubicBezTo>
                    <a:pt x="5892" y="3183"/>
                    <a:pt x="5860" y="3183"/>
                    <a:pt x="5797" y="3151"/>
                  </a:cubicBezTo>
                  <a:lnTo>
                    <a:pt x="6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612;p147">
              <a:extLst>
                <a:ext uri="{FF2B5EF4-FFF2-40B4-BE49-F238E27FC236}">
                  <a16:creationId xmlns:a16="http://schemas.microsoft.com/office/drawing/2014/main" id="{61E647E5-FA3E-1FA8-6553-668518A69CDB}"/>
                </a:ext>
              </a:extLst>
            </p:cNvPr>
            <p:cNvSpPr/>
            <p:nvPr/>
          </p:nvSpPr>
          <p:spPr>
            <a:xfrm>
              <a:off x="-45673275" y="3334400"/>
              <a:ext cx="299325" cy="113425"/>
            </a:xfrm>
            <a:custGeom>
              <a:avLst/>
              <a:gdLst/>
              <a:ahLst/>
              <a:cxnLst/>
              <a:rect l="l" t="t" r="r" b="b"/>
              <a:pathLst>
                <a:path w="11973" h="4537" extrusionOk="0">
                  <a:moveTo>
                    <a:pt x="693" y="0"/>
                  </a:moveTo>
                  <a:lnTo>
                    <a:pt x="158" y="378"/>
                  </a:lnTo>
                  <a:cubicBezTo>
                    <a:pt x="32" y="441"/>
                    <a:pt x="0" y="536"/>
                    <a:pt x="0" y="693"/>
                  </a:cubicBezTo>
                  <a:cubicBezTo>
                    <a:pt x="0" y="851"/>
                    <a:pt x="63" y="914"/>
                    <a:pt x="158" y="1008"/>
                  </a:cubicBezTo>
                  <a:lnTo>
                    <a:pt x="5797" y="4505"/>
                  </a:lnTo>
                  <a:cubicBezTo>
                    <a:pt x="5829" y="4537"/>
                    <a:pt x="5892" y="4537"/>
                    <a:pt x="5986" y="4537"/>
                  </a:cubicBezTo>
                  <a:cubicBezTo>
                    <a:pt x="6049" y="4537"/>
                    <a:pt x="6112" y="4537"/>
                    <a:pt x="6175" y="4505"/>
                  </a:cubicBezTo>
                  <a:lnTo>
                    <a:pt x="11815" y="1008"/>
                  </a:lnTo>
                  <a:cubicBezTo>
                    <a:pt x="11941" y="914"/>
                    <a:pt x="11972" y="851"/>
                    <a:pt x="11972" y="693"/>
                  </a:cubicBezTo>
                  <a:cubicBezTo>
                    <a:pt x="11972" y="536"/>
                    <a:pt x="11878" y="441"/>
                    <a:pt x="11815" y="378"/>
                  </a:cubicBezTo>
                  <a:lnTo>
                    <a:pt x="11248" y="0"/>
                  </a:lnTo>
                  <a:lnTo>
                    <a:pt x="6175" y="3214"/>
                  </a:lnTo>
                  <a:cubicBezTo>
                    <a:pt x="6144" y="3245"/>
                    <a:pt x="6049" y="3245"/>
                    <a:pt x="5986" y="3245"/>
                  </a:cubicBezTo>
                  <a:cubicBezTo>
                    <a:pt x="5892" y="3245"/>
                    <a:pt x="5860" y="3245"/>
                    <a:pt x="5797" y="3214"/>
                  </a:cubicBezTo>
                  <a:lnTo>
                    <a:pt x="6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7350;p145">
            <a:extLst>
              <a:ext uri="{FF2B5EF4-FFF2-40B4-BE49-F238E27FC236}">
                <a16:creationId xmlns:a16="http://schemas.microsoft.com/office/drawing/2014/main" id="{08650FE3-497C-FFAF-4807-612F3128D4ED}"/>
              </a:ext>
            </a:extLst>
          </p:cNvPr>
          <p:cNvGrpSpPr/>
          <p:nvPr/>
        </p:nvGrpSpPr>
        <p:grpSpPr>
          <a:xfrm rot="5400000">
            <a:off x="4285650" y="1970337"/>
            <a:ext cx="572700" cy="624251"/>
            <a:chOff x="-59400775" y="4084200"/>
            <a:chExt cx="311125" cy="315875"/>
          </a:xfrm>
          <a:solidFill>
            <a:srgbClr val="3F3533"/>
          </a:solidFill>
        </p:grpSpPr>
        <p:sp>
          <p:nvSpPr>
            <p:cNvPr id="7" name="Google Shape;7351;p145">
              <a:extLst>
                <a:ext uri="{FF2B5EF4-FFF2-40B4-BE49-F238E27FC236}">
                  <a16:creationId xmlns:a16="http://schemas.microsoft.com/office/drawing/2014/main" id="{21339315-6EEC-993A-423B-03DFB520CE6A}"/>
                </a:ext>
              </a:extLst>
            </p:cNvPr>
            <p:cNvSpPr/>
            <p:nvPr/>
          </p:nvSpPr>
          <p:spPr>
            <a:xfrm>
              <a:off x="-5940077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352;p145">
              <a:extLst>
                <a:ext uri="{FF2B5EF4-FFF2-40B4-BE49-F238E27FC236}">
                  <a16:creationId xmlns:a16="http://schemas.microsoft.com/office/drawing/2014/main" id="{CA64D5A0-F25F-054C-8FF5-44A514155F93}"/>
                </a:ext>
              </a:extLst>
            </p:cNvPr>
            <p:cNvSpPr/>
            <p:nvPr/>
          </p:nvSpPr>
          <p:spPr>
            <a:xfrm>
              <a:off x="-59400000" y="4084200"/>
              <a:ext cx="89825" cy="212700"/>
            </a:xfrm>
            <a:custGeom>
              <a:avLst/>
              <a:gdLst/>
              <a:ahLst/>
              <a:cxnLst/>
              <a:rect l="l" t="t" r="r" b="b"/>
              <a:pathLst>
                <a:path w="3593" h="8508" extrusionOk="0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353;p145">
              <a:extLst>
                <a:ext uri="{FF2B5EF4-FFF2-40B4-BE49-F238E27FC236}">
                  <a16:creationId xmlns:a16="http://schemas.microsoft.com/office/drawing/2014/main" id="{BB0120B1-849A-06EB-D8F1-A031329340BE}"/>
                </a:ext>
              </a:extLst>
            </p:cNvPr>
            <p:cNvSpPr/>
            <p:nvPr/>
          </p:nvSpPr>
          <p:spPr>
            <a:xfrm>
              <a:off x="-59290500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354;p145">
              <a:extLst>
                <a:ext uri="{FF2B5EF4-FFF2-40B4-BE49-F238E27FC236}">
                  <a16:creationId xmlns:a16="http://schemas.microsoft.com/office/drawing/2014/main" id="{BD9D1CD9-E57C-AB54-6CF0-A118FE70B130}"/>
                </a:ext>
              </a:extLst>
            </p:cNvPr>
            <p:cNvSpPr/>
            <p:nvPr/>
          </p:nvSpPr>
          <p:spPr>
            <a:xfrm>
              <a:off x="-5929050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355;p145">
              <a:extLst>
                <a:ext uri="{FF2B5EF4-FFF2-40B4-BE49-F238E27FC236}">
                  <a16:creationId xmlns:a16="http://schemas.microsoft.com/office/drawing/2014/main" id="{0594995E-3F69-70C3-E93D-3607FE97C78B}"/>
                </a:ext>
              </a:extLst>
            </p:cNvPr>
            <p:cNvSpPr/>
            <p:nvPr/>
          </p:nvSpPr>
          <p:spPr>
            <a:xfrm>
              <a:off x="-5918102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356;p145">
              <a:extLst>
                <a:ext uri="{FF2B5EF4-FFF2-40B4-BE49-F238E27FC236}">
                  <a16:creationId xmlns:a16="http://schemas.microsoft.com/office/drawing/2014/main" id="{0924A43F-8A01-E22F-69F8-1093D8350EB3}"/>
                </a:ext>
              </a:extLst>
            </p:cNvPr>
            <p:cNvSpPr/>
            <p:nvPr/>
          </p:nvSpPr>
          <p:spPr>
            <a:xfrm>
              <a:off x="-5917945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7350;p145">
            <a:extLst>
              <a:ext uri="{FF2B5EF4-FFF2-40B4-BE49-F238E27FC236}">
                <a16:creationId xmlns:a16="http://schemas.microsoft.com/office/drawing/2014/main" id="{B023B477-65B5-DFFC-EB7B-2A75B20C5E20}"/>
              </a:ext>
            </a:extLst>
          </p:cNvPr>
          <p:cNvGrpSpPr/>
          <p:nvPr/>
        </p:nvGrpSpPr>
        <p:grpSpPr>
          <a:xfrm rot="5400000">
            <a:off x="6840765" y="1970338"/>
            <a:ext cx="572700" cy="624251"/>
            <a:chOff x="-59400775" y="4084200"/>
            <a:chExt cx="311125" cy="315875"/>
          </a:xfrm>
          <a:solidFill>
            <a:srgbClr val="3F3533"/>
          </a:solidFill>
        </p:grpSpPr>
        <p:sp>
          <p:nvSpPr>
            <p:cNvPr id="14" name="Google Shape;7351;p145">
              <a:extLst>
                <a:ext uri="{FF2B5EF4-FFF2-40B4-BE49-F238E27FC236}">
                  <a16:creationId xmlns:a16="http://schemas.microsoft.com/office/drawing/2014/main" id="{4E882994-3291-AB16-936B-5758721A9809}"/>
                </a:ext>
              </a:extLst>
            </p:cNvPr>
            <p:cNvSpPr/>
            <p:nvPr/>
          </p:nvSpPr>
          <p:spPr>
            <a:xfrm>
              <a:off x="-5940077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352;p145">
              <a:extLst>
                <a:ext uri="{FF2B5EF4-FFF2-40B4-BE49-F238E27FC236}">
                  <a16:creationId xmlns:a16="http://schemas.microsoft.com/office/drawing/2014/main" id="{16157FB8-A80D-504A-FDAF-07D752254D99}"/>
                </a:ext>
              </a:extLst>
            </p:cNvPr>
            <p:cNvSpPr/>
            <p:nvPr/>
          </p:nvSpPr>
          <p:spPr>
            <a:xfrm>
              <a:off x="-59400000" y="4084200"/>
              <a:ext cx="89825" cy="212700"/>
            </a:xfrm>
            <a:custGeom>
              <a:avLst/>
              <a:gdLst/>
              <a:ahLst/>
              <a:cxnLst/>
              <a:rect l="l" t="t" r="r" b="b"/>
              <a:pathLst>
                <a:path w="3593" h="8508" extrusionOk="0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353;p145">
              <a:extLst>
                <a:ext uri="{FF2B5EF4-FFF2-40B4-BE49-F238E27FC236}">
                  <a16:creationId xmlns:a16="http://schemas.microsoft.com/office/drawing/2014/main" id="{0A2E20F6-E956-C5AA-310B-479536917714}"/>
                </a:ext>
              </a:extLst>
            </p:cNvPr>
            <p:cNvSpPr/>
            <p:nvPr/>
          </p:nvSpPr>
          <p:spPr>
            <a:xfrm>
              <a:off x="-59290500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354;p145">
              <a:extLst>
                <a:ext uri="{FF2B5EF4-FFF2-40B4-BE49-F238E27FC236}">
                  <a16:creationId xmlns:a16="http://schemas.microsoft.com/office/drawing/2014/main" id="{3264F124-4A65-F294-0616-133EC81484A0}"/>
                </a:ext>
              </a:extLst>
            </p:cNvPr>
            <p:cNvSpPr/>
            <p:nvPr/>
          </p:nvSpPr>
          <p:spPr>
            <a:xfrm>
              <a:off x="-5929050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355;p145">
              <a:extLst>
                <a:ext uri="{FF2B5EF4-FFF2-40B4-BE49-F238E27FC236}">
                  <a16:creationId xmlns:a16="http://schemas.microsoft.com/office/drawing/2014/main" id="{B3239600-CE67-BA17-AA7B-4BE0BA83D4BF}"/>
                </a:ext>
              </a:extLst>
            </p:cNvPr>
            <p:cNvSpPr/>
            <p:nvPr/>
          </p:nvSpPr>
          <p:spPr>
            <a:xfrm>
              <a:off x="-5918102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356;p145">
              <a:extLst>
                <a:ext uri="{FF2B5EF4-FFF2-40B4-BE49-F238E27FC236}">
                  <a16:creationId xmlns:a16="http://schemas.microsoft.com/office/drawing/2014/main" id="{54B94F36-884F-B085-AD5C-5A33F35FE3D2}"/>
                </a:ext>
              </a:extLst>
            </p:cNvPr>
            <p:cNvSpPr/>
            <p:nvPr/>
          </p:nvSpPr>
          <p:spPr>
            <a:xfrm>
              <a:off x="-5917945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96194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id="{36FB62E2-1C79-D2BC-CBD3-6BDA3EB9C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90">
            <a:extLst>
              <a:ext uri="{FF2B5EF4-FFF2-40B4-BE49-F238E27FC236}">
                <a16:creationId xmlns:a16="http://schemas.microsoft.com/office/drawing/2014/main" id="{68106351-95BB-E638-5618-3D1AF56CA7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Output data for the step</a:t>
            </a:r>
          </a:p>
        </p:txBody>
      </p:sp>
      <p:sp>
        <p:nvSpPr>
          <p:cNvPr id="885" name="Google Shape;885;p90">
            <a:extLst>
              <a:ext uri="{FF2B5EF4-FFF2-40B4-BE49-F238E27FC236}">
                <a16:creationId xmlns:a16="http://schemas.microsoft.com/office/drawing/2014/main" id="{C9891020-2094-C162-1D2A-82CA415D676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75325" y="1877850"/>
            <a:ext cx="399334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DATA_QUALITY_OUTPUT</a:t>
            </a:r>
            <a:endParaRPr dirty="0"/>
          </a:p>
        </p:txBody>
      </p:sp>
      <p:sp>
        <p:nvSpPr>
          <p:cNvPr id="886" name="Google Shape;886;p90">
            <a:extLst>
              <a:ext uri="{FF2B5EF4-FFF2-40B4-BE49-F238E27FC236}">
                <a16:creationId xmlns:a16="http://schemas.microsoft.com/office/drawing/2014/main" id="{672F34F5-67AD-9D59-EEC9-F7DB87C10F3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371505" y="2415151"/>
            <a:ext cx="4400979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900" b="1" dirty="0"/>
              <a:t>PRODUCT_LVL_ID</a:t>
            </a:r>
            <a:r>
              <a:rPr lang="en-US" sz="900" dirty="0"/>
              <a:t> – </a:t>
            </a:r>
            <a:r>
              <a:rPr lang="ru-RU" sz="900" dirty="0"/>
              <a:t>идентификатор продукта, где найдена ошибка</a:t>
            </a:r>
          </a:p>
          <a:p>
            <a:r>
              <a:rPr lang="en-US" sz="900" b="1" dirty="0"/>
              <a:t>LOCATION_LVL_ID</a:t>
            </a:r>
            <a:r>
              <a:rPr lang="en-US" sz="900" dirty="0"/>
              <a:t> – </a:t>
            </a:r>
            <a:r>
              <a:rPr lang="ru-RU" sz="900" dirty="0"/>
              <a:t>идентификатор локации (магазин/склад)</a:t>
            </a:r>
          </a:p>
          <a:p>
            <a:r>
              <a:rPr lang="en-US" sz="900" b="1" dirty="0"/>
              <a:t>CUSTOMER_LVL_ID</a:t>
            </a:r>
            <a:r>
              <a:rPr lang="en-US" sz="900" dirty="0"/>
              <a:t> – </a:t>
            </a:r>
            <a:r>
              <a:rPr lang="ru-RU" sz="900" dirty="0"/>
              <a:t>идентификатор клиента (если применимо)</a:t>
            </a:r>
          </a:p>
          <a:p>
            <a:r>
              <a:rPr lang="en-US" sz="900" b="1" dirty="0"/>
              <a:t>DISTR_CHANNEL_LVL_ID</a:t>
            </a:r>
            <a:r>
              <a:rPr lang="en-US" sz="900" dirty="0"/>
              <a:t> – </a:t>
            </a:r>
            <a:r>
              <a:rPr lang="ru-RU" sz="900" dirty="0"/>
              <a:t>идентификатор канала дистрибуции</a:t>
            </a:r>
          </a:p>
          <a:p>
            <a:r>
              <a:rPr lang="en-US" sz="900" b="1" dirty="0"/>
              <a:t>PRODUCT_LVL / LOCATION_LVL / CUSTOMER_LVL / DISTR_CHANNEL_LVL</a:t>
            </a:r>
            <a:r>
              <a:rPr lang="en-US" sz="900" dirty="0"/>
              <a:t> – </a:t>
            </a:r>
            <a:r>
              <a:rPr lang="ru-RU" sz="900" dirty="0"/>
              <a:t>уровень иерархии, на котором зафиксирована ошибка</a:t>
            </a:r>
          </a:p>
          <a:p>
            <a:r>
              <a:rPr lang="en-US" sz="900" b="1" dirty="0"/>
              <a:t>PERIOD_DT</a:t>
            </a:r>
            <a:r>
              <a:rPr lang="en-US" sz="900" dirty="0"/>
              <a:t> – </a:t>
            </a:r>
            <a:r>
              <a:rPr lang="ru-RU" sz="900" dirty="0"/>
              <a:t>дата или период, к которому относится ошибка</a:t>
            </a:r>
          </a:p>
          <a:p>
            <a:r>
              <a:rPr lang="en-US" sz="900" b="1" dirty="0"/>
              <a:t>INPUT_TABLE</a:t>
            </a:r>
            <a:r>
              <a:rPr lang="en-US" sz="900" dirty="0"/>
              <a:t> – </a:t>
            </a:r>
            <a:r>
              <a:rPr lang="ru-RU" sz="900" dirty="0"/>
              <a:t>исходная таблица, из которой пришла проблемная строка</a:t>
            </a:r>
          </a:p>
          <a:p>
            <a:r>
              <a:rPr lang="en-US" sz="900" b="1" dirty="0"/>
              <a:t>INPUT_COLUMN</a:t>
            </a:r>
            <a:r>
              <a:rPr lang="en-US" sz="900" dirty="0"/>
              <a:t> – </a:t>
            </a:r>
            <a:r>
              <a:rPr lang="ru-RU" sz="900" dirty="0"/>
              <a:t>столбец, в котором обнаружена проблема</a:t>
            </a:r>
          </a:p>
          <a:p>
            <a:r>
              <a:rPr lang="en-US" sz="900" b="1" dirty="0"/>
              <a:t>INPUT_VALUE</a:t>
            </a:r>
            <a:r>
              <a:rPr lang="en-US" sz="900" dirty="0"/>
              <a:t> – </a:t>
            </a:r>
            <a:r>
              <a:rPr lang="ru-RU" sz="900" dirty="0"/>
              <a:t>проблемное значение или составной ключ</a:t>
            </a:r>
          </a:p>
          <a:p>
            <a:r>
              <a:rPr lang="en-US" sz="900" b="1" dirty="0"/>
              <a:t>WARNING_TYPE</a:t>
            </a:r>
            <a:r>
              <a:rPr lang="en-US" sz="900" dirty="0"/>
              <a:t> – </a:t>
            </a:r>
            <a:r>
              <a:rPr lang="ru-RU" sz="900" dirty="0"/>
              <a:t>тип ошибки (например, </a:t>
            </a:r>
            <a:r>
              <a:rPr lang="en-US" sz="900" dirty="0"/>
              <a:t>NEGATIVE_VALUE, MISSING_KEY, TIME_CROSS_MISSING)</a:t>
            </a:r>
          </a:p>
          <a:p>
            <a:r>
              <a:rPr lang="en-US" sz="900" b="1" dirty="0"/>
              <a:t>WARNING</a:t>
            </a:r>
            <a:r>
              <a:rPr lang="en-US" sz="900" dirty="0"/>
              <a:t> – </a:t>
            </a:r>
            <a:r>
              <a:rPr lang="ru-RU" sz="900" dirty="0"/>
              <a:t>краткое текстовое описание проблемы (для человека)</a:t>
            </a:r>
          </a:p>
          <a:p>
            <a:pPr marL="0" lvl="0" indent="0"/>
            <a:endParaRPr lang="ru-RU" sz="900" dirty="0"/>
          </a:p>
          <a:p>
            <a:pPr marL="0" lvl="0" indent="0"/>
            <a:endParaRPr sz="900" dirty="0"/>
          </a:p>
        </p:txBody>
      </p:sp>
      <p:grpSp>
        <p:nvGrpSpPr>
          <p:cNvPr id="29" name="Google Shape;9446;p149">
            <a:extLst>
              <a:ext uri="{FF2B5EF4-FFF2-40B4-BE49-F238E27FC236}">
                <a16:creationId xmlns:a16="http://schemas.microsoft.com/office/drawing/2014/main" id="{E1BC76BF-BFEC-0C4A-7BFA-A7D9A5885F81}"/>
              </a:ext>
            </a:extLst>
          </p:cNvPr>
          <p:cNvGrpSpPr/>
          <p:nvPr/>
        </p:nvGrpSpPr>
        <p:grpSpPr>
          <a:xfrm>
            <a:off x="4308812" y="1405697"/>
            <a:ext cx="526363" cy="472153"/>
            <a:chOff x="-3771675" y="3971775"/>
            <a:chExt cx="291300" cy="292025"/>
          </a:xfrm>
          <a:solidFill>
            <a:srgbClr val="4A413F"/>
          </a:solidFill>
        </p:grpSpPr>
        <p:sp>
          <p:nvSpPr>
            <p:cNvPr id="30" name="Google Shape;9447;p149">
              <a:extLst>
                <a:ext uri="{FF2B5EF4-FFF2-40B4-BE49-F238E27FC236}">
                  <a16:creationId xmlns:a16="http://schemas.microsoft.com/office/drawing/2014/main" id="{53B2F80E-5B01-2B2B-7D4F-2E16953BD01E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448;p149">
              <a:extLst>
                <a:ext uri="{FF2B5EF4-FFF2-40B4-BE49-F238E27FC236}">
                  <a16:creationId xmlns:a16="http://schemas.microsoft.com/office/drawing/2014/main" id="{58E636B3-9C24-AFF9-2FAA-3925DC8EAD82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449;p149">
              <a:extLst>
                <a:ext uri="{FF2B5EF4-FFF2-40B4-BE49-F238E27FC236}">
                  <a16:creationId xmlns:a16="http://schemas.microsoft.com/office/drawing/2014/main" id="{B4597428-42E9-7B0A-F2FB-8CE4A0238D28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450;p149">
              <a:extLst>
                <a:ext uri="{FF2B5EF4-FFF2-40B4-BE49-F238E27FC236}">
                  <a16:creationId xmlns:a16="http://schemas.microsoft.com/office/drawing/2014/main" id="{2F57854E-5A96-6FEB-3095-B361EDB854DA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451;p149">
              <a:extLst>
                <a:ext uri="{FF2B5EF4-FFF2-40B4-BE49-F238E27FC236}">
                  <a16:creationId xmlns:a16="http://schemas.microsoft.com/office/drawing/2014/main" id="{4A03383E-ADB7-84F1-DFE3-8D422F7E71CB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4991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id="{66E768E8-71C9-C38C-0D80-B32EBEF3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2B0CD18-63CC-60C7-A377-C57D9F311971}"/>
              </a:ext>
            </a:extLst>
          </p:cNvPr>
          <p:cNvSpPr txBox="1"/>
          <p:nvPr/>
        </p:nvSpPr>
        <p:spPr>
          <a:xfrm>
            <a:off x="2582406" y="2110085"/>
            <a:ext cx="46533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5400" dirty="0">
                <a:latin typeface="AlphabetSoup Tilt BT" panose="04020905020B06060204" pitchFamily="82" charset="0"/>
              </a:rPr>
              <a:t>Live Demo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64238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C9F98041-52B3-FEE3-A281-29BBBC5E5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FE5D4F04-56C8-B14F-B7A4-E1C647D80D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02A81C-3FFD-5FA2-DAE4-D61495A5E7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2788" y="1582173"/>
            <a:ext cx="811349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Conclusions:</a:t>
            </a:r>
            <a:br>
              <a:rPr lang="en-US" sz="1400" dirty="0"/>
            </a:br>
            <a:r>
              <a:rPr lang="en-US" sz="1400" dirty="0"/>
              <a:t>Implemented a DQ validation module for incoming DDS tables that automatically detects negative values, inconsistent keys, and temporal gaps between facts.</a:t>
            </a:r>
            <a:br>
              <a:rPr lang="en-US" sz="1400" dirty="0"/>
            </a:br>
            <a:r>
              <a:rPr lang="en-US" sz="1400" dirty="0"/>
              <a:t>Built a single consolidated output report, DATA_QUALITY_OUTPUT, where each row represents a specific issue with the object, period, table, and error type.</a:t>
            </a:r>
            <a:br>
              <a:rPr lang="en-US" sz="1400" dirty="0"/>
            </a:br>
            <a:r>
              <a:rPr lang="en-US" sz="1400" dirty="0"/>
              <a:t>Validated it on synthetic and real data; built aggregates and visualizations that show the distribution of issues by table and type and allow a quick “health check” of the dataset before model training.</a:t>
            </a:r>
          </a:p>
          <a:p>
            <a:r>
              <a:rPr lang="en-US" sz="1400" b="1" dirty="0"/>
              <a:t>How to improve the result:</a:t>
            </a:r>
            <a:br>
              <a:rPr lang="en-US" sz="1400" dirty="0"/>
            </a:br>
            <a:r>
              <a:rPr lang="en-US" sz="1400" dirty="0"/>
              <a:t>Add business-level DQ rules (thresholds for sales/prices, anomalous spike values).</a:t>
            </a:r>
            <a:br>
              <a:rPr lang="en-US" sz="1400" dirty="0"/>
            </a:br>
            <a:r>
              <a:rPr lang="en-US" sz="1400" dirty="0"/>
              <a:t>Move all thresholds and settings into a configuration table (DQ_PARAMETERS) and make the step fully configurable without code changes.</a:t>
            </a:r>
          </a:p>
        </p:txBody>
      </p:sp>
    </p:spTree>
    <p:extLst>
      <p:ext uri="{BB962C8B-B14F-4D97-AF65-F5344CB8AC3E}">
        <p14:creationId xmlns:p14="http://schemas.microsoft.com/office/powerpoint/2010/main" val="194195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>
          <a:extLst>
            <a:ext uri="{FF2B5EF4-FFF2-40B4-BE49-F238E27FC236}">
              <a16:creationId xmlns:a16="http://schemas.microsoft.com/office/drawing/2014/main" id="{D3BDE7FB-DFF6-6683-E64B-C41158543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>
            <a:extLst>
              <a:ext uri="{FF2B5EF4-FFF2-40B4-BE49-F238E27FC236}">
                <a16:creationId xmlns:a16="http://schemas.microsoft.com/office/drawing/2014/main" id="{D76C489F-0793-086B-73A2-D0B5311B2D4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dirty="0"/>
              <a:t>Development of an end-to-end demand forecasting pipeline for retail</a:t>
            </a:r>
            <a:endParaRPr sz="4000" dirty="0"/>
          </a:p>
        </p:txBody>
      </p:sp>
      <p:sp>
        <p:nvSpPr>
          <p:cNvPr id="489" name="Google Shape;489;p60">
            <a:extLst>
              <a:ext uri="{FF2B5EF4-FFF2-40B4-BE49-F238E27FC236}">
                <a16:creationId xmlns:a16="http://schemas.microsoft.com/office/drawing/2014/main" id="{2D7ACE38-05D5-C3E1-C9F4-80F23F49C0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9950" y="3229628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2000" dirty="0" err="1"/>
              <a:t>Disaccumulation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88D26-F2DD-E10E-DD40-13A58CAAEC81}"/>
              </a:ext>
            </a:extLst>
          </p:cNvPr>
          <p:cNvSpPr txBox="1"/>
          <p:nvPr/>
        </p:nvSpPr>
        <p:spPr>
          <a:xfrm>
            <a:off x="3441248" y="3965957"/>
            <a:ext cx="48904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tx1"/>
                </a:solidFill>
                <a:latin typeface="Montserrat"/>
              </a:rPr>
              <a:t>Шуб Сергей </a:t>
            </a:r>
            <a:r>
              <a:rPr lang="ru-RU" sz="1600" dirty="0">
                <a:solidFill>
                  <a:schemeClr val="tx1"/>
                </a:solidFill>
                <a:latin typeface="Montserrat"/>
                <a:sym typeface="Montserrat"/>
              </a:rPr>
              <a:t>Алексеевич</a:t>
            </a:r>
          </a:p>
        </p:txBody>
      </p:sp>
    </p:spTree>
    <p:extLst>
      <p:ext uri="{BB962C8B-B14F-4D97-AF65-F5344CB8AC3E}">
        <p14:creationId xmlns:p14="http://schemas.microsoft.com/office/powerpoint/2010/main" val="242989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>
          <a:extLst>
            <a:ext uri="{FF2B5EF4-FFF2-40B4-BE49-F238E27FC236}">
              <a16:creationId xmlns:a16="http://schemas.microsoft.com/office/drawing/2014/main" id="{22287F54-9790-DA8A-39BE-0F7091934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1;p14">
            <a:extLst>
              <a:ext uri="{FF2B5EF4-FFF2-40B4-BE49-F238E27FC236}">
                <a16:creationId xmlns:a16="http://schemas.microsoft.com/office/drawing/2014/main" id="{61C33738-0ECC-BBB2-8D04-B02390BBEE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488" y="917757"/>
            <a:ext cx="8371024" cy="347382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Облачко с текстом: прямоугольное 6">
            <a:extLst>
              <a:ext uri="{FF2B5EF4-FFF2-40B4-BE49-F238E27FC236}">
                <a16:creationId xmlns:a16="http://schemas.microsoft.com/office/drawing/2014/main" id="{F2B5732D-9B11-0888-BAEC-AEFC6C127A44}"/>
              </a:ext>
            </a:extLst>
          </p:cNvPr>
          <p:cNvSpPr/>
          <p:nvPr/>
        </p:nvSpPr>
        <p:spPr>
          <a:xfrm rot="10800000">
            <a:off x="491778" y="2808023"/>
            <a:ext cx="3749807" cy="1583560"/>
          </a:xfrm>
          <a:prstGeom prst="wedgeRectCallout">
            <a:avLst>
              <a:gd name="adj1" fmla="val -75486"/>
              <a:gd name="adj2" fmla="val -3145"/>
            </a:avLst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01FC8D-7C24-B4EC-9F7D-A1ABAC245A64}"/>
              </a:ext>
            </a:extLst>
          </p:cNvPr>
          <p:cNvSpPr txBox="1"/>
          <p:nvPr/>
        </p:nvSpPr>
        <p:spPr>
          <a:xfrm>
            <a:off x="609748" y="2808023"/>
            <a:ext cx="35138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What it does and why:</a:t>
            </a:r>
            <a:br>
              <a:rPr lang="en-US" sz="1000" dirty="0"/>
            </a:br>
            <a:r>
              <a:rPr lang="en-US" sz="1000" dirty="0"/>
              <a:t>Checks whether the current forecast time granularity differs from the target one.</a:t>
            </a:r>
            <a:br>
              <a:rPr lang="en-US" sz="1000" dirty="0"/>
            </a:br>
            <a:r>
              <a:rPr lang="en-US" sz="1000" dirty="0"/>
              <a:t>If it differs, splits intervals into days or weeks.</a:t>
            </a:r>
            <a:br>
              <a:rPr lang="en-US" sz="1000" dirty="0"/>
            </a:br>
            <a:r>
              <a:rPr lang="en-US" sz="1000" dirty="0"/>
              <a:t>Redistributes forecast values proportionally to the number of days in each new interval, preserving the total volume.</a:t>
            </a:r>
          </a:p>
          <a:p>
            <a:r>
              <a:rPr lang="en-US" sz="1000" b="1" dirty="0"/>
              <a:t>Why it’s needed:</a:t>
            </a:r>
            <a:br>
              <a:rPr lang="en-US" sz="1000" dirty="0"/>
            </a:br>
            <a:r>
              <a:rPr lang="en-US" sz="1000" dirty="0"/>
              <a:t>To produce a forecast at the time resolution required by downstream steps, without losing or distorting the original forecast volume.</a:t>
            </a:r>
          </a:p>
          <a:p>
            <a:endParaRPr lang="ru-RU" sz="800" b="1" dirty="0">
              <a:solidFill>
                <a:schemeClr val="tx1"/>
              </a:solidFill>
              <a:latin typeface="Montserrat" panose="00000500000000000000" pitchFamily="2" charset="-52"/>
              <a:cs typeface="Mongolian Baiti" panose="03000500000000000000" pitchFamily="66" charset="0"/>
            </a:endParaRPr>
          </a:p>
        </p:txBody>
      </p:sp>
      <p:sp>
        <p:nvSpPr>
          <p:cNvPr id="10" name="Google Shape;60;p14">
            <a:extLst>
              <a:ext uri="{FF2B5EF4-FFF2-40B4-BE49-F238E27FC236}">
                <a16:creationId xmlns:a16="http://schemas.microsoft.com/office/drawing/2014/main" id="{A8FCAE61-9FBA-D5A0-5BFF-4C4C0F80C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4505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3200" dirty="0">
                <a:solidFill>
                  <a:schemeClr val="dk2"/>
                </a:solidFill>
                <a:latin typeface="Montserrat"/>
                <a:sym typeface="Montserrat"/>
              </a:rPr>
              <a:t>end-to-end demand forecasting process</a:t>
            </a:r>
            <a:endParaRPr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71509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>
          <a:extLst>
            <a:ext uri="{FF2B5EF4-FFF2-40B4-BE49-F238E27FC236}">
              <a16:creationId xmlns:a16="http://schemas.microsoft.com/office/drawing/2014/main" id="{A17E899C-7B68-927B-6F79-7D123CD7C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4">
            <a:extLst>
              <a:ext uri="{FF2B5EF4-FFF2-40B4-BE49-F238E27FC236}">
                <a16:creationId xmlns:a16="http://schemas.microsoft.com/office/drawing/2014/main" id="{80D8AC78-49D4-821F-5431-EA407DBB18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327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en-US" dirty="0"/>
              <a:t>Input data for the step</a:t>
            </a:r>
            <a:endParaRPr dirty="0"/>
          </a:p>
        </p:txBody>
      </p:sp>
      <p:sp>
        <p:nvSpPr>
          <p:cNvPr id="626" name="Google Shape;626;p74">
            <a:extLst>
              <a:ext uri="{FF2B5EF4-FFF2-40B4-BE49-F238E27FC236}">
                <a16:creationId xmlns:a16="http://schemas.microsoft.com/office/drawing/2014/main" id="{CCC9CBE8-45AD-C267-B02D-321B816B41B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61964" y="2576380"/>
            <a:ext cx="4240037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/>
              <a:t>Параметр конфигурации</a:t>
            </a:r>
            <a:endParaRPr dirty="0"/>
          </a:p>
        </p:txBody>
      </p:sp>
      <p:sp>
        <p:nvSpPr>
          <p:cNvPr id="627" name="Google Shape;627;p74">
            <a:extLst>
              <a:ext uri="{FF2B5EF4-FFF2-40B4-BE49-F238E27FC236}">
                <a16:creationId xmlns:a16="http://schemas.microsoft.com/office/drawing/2014/main" id="{B75D6E29-9640-C8B3-E2FB-2EF49E1D7AD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038975" y="2961200"/>
            <a:ext cx="3133475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/>
              <a:t>DAY or WEEK.2, which defines the target time granularity</a:t>
            </a:r>
          </a:p>
        </p:txBody>
      </p:sp>
      <p:sp>
        <p:nvSpPr>
          <p:cNvPr id="628" name="Google Shape;628;p74">
            <a:extLst>
              <a:ext uri="{FF2B5EF4-FFF2-40B4-BE49-F238E27FC236}">
                <a16:creationId xmlns:a16="http://schemas.microsoft.com/office/drawing/2014/main" id="{C3CA810E-C2FA-7780-5DB2-AB48BC3588B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693174" y="2551449"/>
            <a:ext cx="2668963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AGG_HYB_FCS</a:t>
            </a:r>
            <a:r>
              <a:rPr lang="ru-RU" dirty="0"/>
              <a:t>…</a:t>
            </a:r>
            <a:endParaRPr dirty="0"/>
          </a:p>
        </p:txBody>
      </p:sp>
      <p:sp>
        <p:nvSpPr>
          <p:cNvPr id="629" name="Google Shape;629;p74">
            <a:extLst>
              <a:ext uri="{FF2B5EF4-FFF2-40B4-BE49-F238E27FC236}">
                <a16:creationId xmlns:a16="http://schemas.microsoft.com/office/drawing/2014/main" id="{C0C7D138-0AA6-4EC4-1076-A87C1CE1C3D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170432" y="2961200"/>
            <a:ext cx="3664915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Keys</a:t>
            </a:r>
          </a:p>
          <a:p>
            <a:pPr marL="0" indent="0"/>
            <a:br>
              <a:rPr lang="en-US" dirty="0"/>
            </a:br>
            <a:r>
              <a:rPr lang="en-US" dirty="0"/>
              <a:t>time: PERIOD_DT–PERIOD_END_DT interval (usually a month)</a:t>
            </a:r>
          </a:p>
          <a:p>
            <a:pPr marL="0" indent="0"/>
            <a:br>
              <a:rPr lang="en-US" dirty="0"/>
            </a:br>
            <a:r>
              <a:rPr lang="en-US" dirty="0"/>
              <a:t>forecast values: VF_FORECAST_VALUE, ML_FORECAST_VALUE, HYBRID_FORECAST_VALUE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grpSp>
        <p:nvGrpSpPr>
          <p:cNvPr id="4" name="Google Shape;9446;p149">
            <a:extLst>
              <a:ext uri="{FF2B5EF4-FFF2-40B4-BE49-F238E27FC236}">
                <a16:creationId xmlns:a16="http://schemas.microsoft.com/office/drawing/2014/main" id="{F2CAEF0F-C922-44A9-1EBD-AAD0DD33B970}"/>
              </a:ext>
            </a:extLst>
          </p:cNvPr>
          <p:cNvGrpSpPr/>
          <p:nvPr/>
        </p:nvGrpSpPr>
        <p:grpSpPr>
          <a:xfrm>
            <a:off x="2726503" y="2093327"/>
            <a:ext cx="526363" cy="472153"/>
            <a:chOff x="-3771675" y="3971775"/>
            <a:chExt cx="291300" cy="292025"/>
          </a:xfrm>
          <a:solidFill>
            <a:srgbClr val="4A413F"/>
          </a:solidFill>
        </p:grpSpPr>
        <p:sp>
          <p:nvSpPr>
            <p:cNvPr id="5" name="Google Shape;9447;p149">
              <a:extLst>
                <a:ext uri="{FF2B5EF4-FFF2-40B4-BE49-F238E27FC236}">
                  <a16:creationId xmlns:a16="http://schemas.microsoft.com/office/drawing/2014/main" id="{EAAC6DD4-5535-BF0F-6432-C2671529B594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448;p149">
              <a:extLst>
                <a:ext uri="{FF2B5EF4-FFF2-40B4-BE49-F238E27FC236}">
                  <a16:creationId xmlns:a16="http://schemas.microsoft.com/office/drawing/2014/main" id="{9A327BFF-04B0-0F9E-96CD-177B568CD3A4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449;p149">
              <a:extLst>
                <a:ext uri="{FF2B5EF4-FFF2-40B4-BE49-F238E27FC236}">
                  <a16:creationId xmlns:a16="http://schemas.microsoft.com/office/drawing/2014/main" id="{DE82C125-6AD2-82AB-C0F8-4381A3990028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450;p149">
              <a:extLst>
                <a:ext uri="{FF2B5EF4-FFF2-40B4-BE49-F238E27FC236}">
                  <a16:creationId xmlns:a16="http://schemas.microsoft.com/office/drawing/2014/main" id="{4D22921C-CEE8-86AE-A31F-F6B7403BE9CB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451;p149">
              <a:extLst>
                <a:ext uri="{FF2B5EF4-FFF2-40B4-BE49-F238E27FC236}">
                  <a16:creationId xmlns:a16="http://schemas.microsoft.com/office/drawing/2014/main" id="{A5F36A89-7965-BD59-6BE4-1F6CF2B6777B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6647;p143">
            <a:extLst>
              <a:ext uri="{FF2B5EF4-FFF2-40B4-BE49-F238E27FC236}">
                <a16:creationId xmlns:a16="http://schemas.microsoft.com/office/drawing/2014/main" id="{A3E51DBB-806F-AC9F-EDBD-296F48272737}"/>
              </a:ext>
            </a:extLst>
          </p:cNvPr>
          <p:cNvGrpSpPr/>
          <p:nvPr/>
        </p:nvGrpSpPr>
        <p:grpSpPr>
          <a:xfrm>
            <a:off x="6018843" y="2014213"/>
            <a:ext cx="526363" cy="572700"/>
            <a:chOff x="1492675" y="2027925"/>
            <a:chExt cx="481825" cy="481825"/>
          </a:xfrm>
          <a:solidFill>
            <a:srgbClr val="3F3533"/>
          </a:solidFill>
        </p:grpSpPr>
        <p:sp>
          <p:nvSpPr>
            <p:cNvPr id="18" name="Google Shape;6648;p143">
              <a:extLst>
                <a:ext uri="{FF2B5EF4-FFF2-40B4-BE49-F238E27FC236}">
                  <a16:creationId xmlns:a16="http://schemas.microsoft.com/office/drawing/2014/main" id="{F1896C63-DA9F-8AC3-4E2E-590E99AE2407}"/>
                </a:ext>
              </a:extLst>
            </p:cNvPr>
            <p:cNvSpPr/>
            <p:nvPr/>
          </p:nvSpPr>
          <p:spPr>
            <a:xfrm>
              <a:off x="1719425" y="21700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" name="Google Shape;6649;p143">
              <a:extLst>
                <a:ext uri="{FF2B5EF4-FFF2-40B4-BE49-F238E27FC236}">
                  <a16:creationId xmlns:a16="http://schemas.microsoft.com/office/drawing/2014/main" id="{856BD299-1D55-5367-1560-517B3F0D1970}"/>
                </a:ext>
              </a:extLst>
            </p:cNvPr>
            <p:cNvSpPr/>
            <p:nvPr/>
          </p:nvSpPr>
          <p:spPr>
            <a:xfrm>
              <a:off x="183235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6650;p143">
              <a:extLst>
                <a:ext uri="{FF2B5EF4-FFF2-40B4-BE49-F238E27FC236}">
                  <a16:creationId xmlns:a16="http://schemas.microsoft.com/office/drawing/2014/main" id="{D1635550-7CB5-B43F-B50C-1656052E5AC1}"/>
                </a:ext>
              </a:extLst>
            </p:cNvPr>
            <p:cNvSpPr/>
            <p:nvPr/>
          </p:nvSpPr>
          <p:spPr>
            <a:xfrm>
              <a:off x="160650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6651;p143">
              <a:extLst>
                <a:ext uri="{FF2B5EF4-FFF2-40B4-BE49-F238E27FC236}">
                  <a16:creationId xmlns:a16="http://schemas.microsoft.com/office/drawing/2014/main" id="{3F552735-A242-1FF3-BE86-C864F149E00E}"/>
                </a:ext>
              </a:extLst>
            </p:cNvPr>
            <p:cNvSpPr/>
            <p:nvPr/>
          </p:nvSpPr>
          <p:spPr>
            <a:xfrm>
              <a:off x="1492675" y="2425025"/>
              <a:ext cx="481825" cy="84725"/>
            </a:xfrm>
            <a:custGeom>
              <a:avLst/>
              <a:gdLst/>
              <a:ahLst/>
              <a:cxnLst/>
              <a:rect l="l" t="t" r="r" b="b"/>
              <a:pathLst>
                <a:path w="19273" h="3389" extrusionOk="0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6652;p143">
              <a:extLst>
                <a:ext uri="{FF2B5EF4-FFF2-40B4-BE49-F238E27FC236}">
                  <a16:creationId xmlns:a16="http://schemas.microsoft.com/office/drawing/2014/main" id="{E9DE72CD-D570-9302-4E40-BA294AD4C196}"/>
                </a:ext>
              </a:extLst>
            </p:cNvPr>
            <p:cNvSpPr/>
            <p:nvPr/>
          </p:nvSpPr>
          <p:spPr>
            <a:xfrm>
              <a:off x="1492675" y="2027925"/>
              <a:ext cx="481825" cy="368000"/>
            </a:xfrm>
            <a:custGeom>
              <a:avLst/>
              <a:gdLst/>
              <a:ahLst/>
              <a:cxnLst/>
              <a:rect l="l" t="t" r="r" b="b"/>
              <a:pathLst>
                <a:path w="19273" h="14720" extrusionOk="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7974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id="{D71DDEE7-5704-09AB-F543-28F23192A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90">
            <a:extLst>
              <a:ext uri="{FF2B5EF4-FFF2-40B4-BE49-F238E27FC236}">
                <a16:creationId xmlns:a16="http://schemas.microsoft.com/office/drawing/2014/main" id="{09EA1682-7250-470B-02C8-2C70E3CEB5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Output data for the step</a:t>
            </a:r>
            <a:endParaRPr dirty="0"/>
          </a:p>
        </p:txBody>
      </p:sp>
      <p:sp>
        <p:nvSpPr>
          <p:cNvPr id="885" name="Google Shape;885;p90">
            <a:extLst>
              <a:ext uri="{FF2B5EF4-FFF2-40B4-BE49-F238E27FC236}">
                <a16:creationId xmlns:a16="http://schemas.microsoft.com/office/drawing/2014/main" id="{9EAB674F-0DE1-C91D-37D4-E58360E67C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01104" y="1888163"/>
            <a:ext cx="4505097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ACC_AGG_HYBRID_FORECAST</a:t>
            </a:r>
            <a:endParaRPr lang="en-US" dirty="0"/>
          </a:p>
        </p:txBody>
      </p:sp>
      <p:sp>
        <p:nvSpPr>
          <p:cNvPr id="886" name="Google Shape;886;p90">
            <a:extLst>
              <a:ext uri="{FF2B5EF4-FFF2-40B4-BE49-F238E27FC236}">
                <a16:creationId xmlns:a16="http://schemas.microsoft.com/office/drawing/2014/main" id="{97D3153C-2844-8993-E04E-90DFAEA0575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488502" y="2473514"/>
            <a:ext cx="4400979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900" b="1" dirty="0"/>
              <a:t>PRODUCT_ID </a:t>
            </a:r>
            <a:r>
              <a:rPr lang="en-US" sz="900" dirty="0"/>
              <a:t>– product identifier for which the forecast is calculated</a:t>
            </a:r>
            <a:br>
              <a:rPr lang="en-US" sz="900" dirty="0"/>
            </a:br>
            <a:r>
              <a:rPr lang="en-US" sz="900" b="1" dirty="0"/>
              <a:t>LOCATION_ID </a:t>
            </a:r>
            <a:r>
              <a:rPr lang="en-US" sz="900" dirty="0"/>
              <a:t>– location identifier (store / warehouse)</a:t>
            </a:r>
            <a:br>
              <a:rPr lang="en-US" sz="900" dirty="0"/>
            </a:br>
            <a:r>
              <a:rPr lang="en-US" sz="900" b="1" dirty="0"/>
              <a:t>CUSTOMER_ID </a:t>
            </a:r>
            <a:r>
              <a:rPr lang="en-US" sz="900" dirty="0"/>
              <a:t>– customer identifier (if used in the mart)</a:t>
            </a:r>
            <a:br>
              <a:rPr lang="en-US" sz="900" dirty="0"/>
            </a:br>
            <a:r>
              <a:rPr lang="en-US" sz="900" b="1" dirty="0"/>
              <a:t>DISTR_CHANNEL_ID </a:t>
            </a:r>
            <a:r>
              <a:rPr lang="en-US" sz="900" dirty="0"/>
              <a:t>– distribution channel identifier</a:t>
            </a:r>
            <a:br>
              <a:rPr lang="en-US" sz="900" dirty="0"/>
            </a:br>
            <a:r>
              <a:rPr lang="en-US" sz="900" b="1" dirty="0"/>
              <a:t>PERIOD_DT </a:t>
            </a:r>
            <a:r>
              <a:rPr lang="en-US" sz="900" dirty="0"/>
              <a:t>– start of the interval in the target time granularity (DAY / WEEK.2)</a:t>
            </a:r>
            <a:br>
              <a:rPr lang="en-US" sz="900" dirty="0"/>
            </a:br>
            <a:r>
              <a:rPr lang="en-US" sz="900" b="1" dirty="0"/>
              <a:t>PERIOD_END_DT </a:t>
            </a:r>
            <a:r>
              <a:rPr lang="en-US" sz="900" dirty="0"/>
              <a:t>– end of the interval (for DAY it matches PERIOD_DT; for WEEK.2 it is the week end)</a:t>
            </a:r>
            <a:br>
              <a:rPr lang="en-US" sz="900" dirty="0"/>
            </a:br>
            <a:r>
              <a:rPr lang="en-US" sz="900" b="1" dirty="0"/>
              <a:t>VF_FORECAST_VALUE </a:t>
            </a:r>
            <a:r>
              <a:rPr lang="en-US" sz="900" dirty="0"/>
              <a:t>– disaggregated VF forecast volume for this interval</a:t>
            </a:r>
            <a:br>
              <a:rPr lang="en-US" sz="900" dirty="0"/>
            </a:br>
            <a:r>
              <a:rPr lang="en-US" sz="900" b="1" dirty="0"/>
              <a:t>ML_FORECAST_VALUE </a:t>
            </a:r>
            <a:r>
              <a:rPr lang="en-US" sz="900" dirty="0"/>
              <a:t>– disaggregated ML forecast volume for this interval</a:t>
            </a:r>
            <a:br>
              <a:rPr lang="en-US" sz="900" dirty="0"/>
            </a:br>
            <a:r>
              <a:rPr lang="en-US" sz="900" b="1" dirty="0"/>
              <a:t>HYBRID_FORECAST_VALUE </a:t>
            </a:r>
            <a:r>
              <a:rPr lang="en-US" sz="900" dirty="0"/>
              <a:t>– disaggregated hybrid forecast volume for this interval</a:t>
            </a:r>
            <a:endParaRPr lang="en-US" altLang="en-US" sz="9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9" name="Google Shape;9446;p149">
            <a:extLst>
              <a:ext uri="{FF2B5EF4-FFF2-40B4-BE49-F238E27FC236}">
                <a16:creationId xmlns:a16="http://schemas.microsoft.com/office/drawing/2014/main" id="{570951E9-05D0-A51E-6044-98D731EBE0ED}"/>
              </a:ext>
            </a:extLst>
          </p:cNvPr>
          <p:cNvGrpSpPr/>
          <p:nvPr/>
        </p:nvGrpSpPr>
        <p:grpSpPr>
          <a:xfrm>
            <a:off x="4290470" y="1416010"/>
            <a:ext cx="526363" cy="472153"/>
            <a:chOff x="-3771675" y="3971775"/>
            <a:chExt cx="291300" cy="292025"/>
          </a:xfrm>
          <a:solidFill>
            <a:srgbClr val="4A413F"/>
          </a:solidFill>
        </p:grpSpPr>
        <p:sp>
          <p:nvSpPr>
            <p:cNvPr id="30" name="Google Shape;9447;p149">
              <a:extLst>
                <a:ext uri="{FF2B5EF4-FFF2-40B4-BE49-F238E27FC236}">
                  <a16:creationId xmlns:a16="http://schemas.microsoft.com/office/drawing/2014/main" id="{EC74DF30-D054-82C0-3D40-22604002E634}"/>
                </a:ext>
              </a:extLst>
            </p:cNvPr>
            <p:cNvSpPr/>
            <p:nvPr/>
          </p:nvSpPr>
          <p:spPr>
            <a:xfrm>
              <a:off x="-3770100" y="3971775"/>
              <a:ext cx="218975" cy="66775"/>
            </a:xfrm>
            <a:custGeom>
              <a:avLst/>
              <a:gdLst/>
              <a:ahLst/>
              <a:cxnLst/>
              <a:rect l="l" t="t" r="r" b="b"/>
              <a:pathLst>
                <a:path w="8759" h="2671" extrusionOk="0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448;p149">
              <a:extLst>
                <a:ext uri="{FF2B5EF4-FFF2-40B4-BE49-F238E27FC236}">
                  <a16:creationId xmlns:a16="http://schemas.microsoft.com/office/drawing/2014/main" id="{D4D3B758-C243-FD5E-1E63-184F7CCCA9E0}"/>
                </a:ext>
              </a:extLst>
            </p:cNvPr>
            <p:cNvSpPr/>
            <p:nvPr/>
          </p:nvSpPr>
          <p:spPr>
            <a:xfrm>
              <a:off x="-3771675" y="4030650"/>
              <a:ext cx="222125" cy="78000"/>
            </a:xfrm>
            <a:custGeom>
              <a:avLst/>
              <a:gdLst/>
              <a:ahLst/>
              <a:cxnLst/>
              <a:rect l="l" t="t" r="r" b="b"/>
              <a:pathLst>
                <a:path w="8885" h="3120" extrusionOk="0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449;p149">
              <a:extLst>
                <a:ext uri="{FF2B5EF4-FFF2-40B4-BE49-F238E27FC236}">
                  <a16:creationId xmlns:a16="http://schemas.microsoft.com/office/drawing/2014/main" id="{80268124-61F9-CA17-5E66-3FFAF76B0D24}"/>
                </a:ext>
              </a:extLst>
            </p:cNvPr>
            <p:cNvSpPr/>
            <p:nvPr/>
          </p:nvSpPr>
          <p:spPr>
            <a:xfrm>
              <a:off x="-3669425" y="4074750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450;p149">
              <a:extLst>
                <a:ext uri="{FF2B5EF4-FFF2-40B4-BE49-F238E27FC236}">
                  <a16:creationId xmlns:a16="http://schemas.microsoft.com/office/drawing/2014/main" id="{4DCC7C19-4B8A-4218-58B5-C469105C329F}"/>
                </a:ext>
              </a:extLst>
            </p:cNvPr>
            <p:cNvSpPr/>
            <p:nvPr/>
          </p:nvSpPr>
          <p:spPr>
            <a:xfrm>
              <a:off x="-3771675" y="4099950"/>
              <a:ext cx="94525" cy="76425"/>
            </a:xfrm>
            <a:custGeom>
              <a:avLst/>
              <a:gdLst/>
              <a:ahLst/>
              <a:cxnLst/>
              <a:rect l="l" t="t" r="r" b="b"/>
              <a:pathLst>
                <a:path w="3781" h="3057" extrusionOk="0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451;p149">
              <a:extLst>
                <a:ext uri="{FF2B5EF4-FFF2-40B4-BE49-F238E27FC236}">
                  <a16:creationId xmlns:a16="http://schemas.microsoft.com/office/drawing/2014/main" id="{90AB866F-B252-6310-4C9F-7BA532582CE3}"/>
                </a:ext>
              </a:extLst>
            </p:cNvPr>
            <p:cNvSpPr/>
            <p:nvPr/>
          </p:nvSpPr>
          <p:spPr>
            <a:xfrm>
              <a:off x="-3771675" y="4167700"/>
              <a:ext cx="135500" cy="95325"/>
            </a:xfrm>
            <a:custGeom>
              <a:avLst/>
              <a:gdLst/>
              <a:ahLst/>
              <a:cxnLst/>
              <a:rect l="l" t="t" r="r" b="b"/>
              <a:pathLst>
                <a:path w="5420" h="3813" extrusionOk="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grpFill/>
            <a:ln>
              <a:solidFill>
                <a:srgbClr val="3F353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1886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id="{2611C99F-CBD4-F9F5-AAC3-157619667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A155DDC-3EB4-0C0C-5F4C-8C687AA183B6}"/>
              </a:ext>
            </a:extLst>
          </p:cNvPr>
          <p:cNvSpPr txBox="1"/>
          <p:nvPr/>
        </p:nvSpPr>
        <p:spPr>
          <a:xfrm>
            <a:off x="2582406" y="2110085"/>
            <a:ext cx="46533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5400" dirty="0">
                <a:latin typeface="AlphabetSoup Tilt BT" panose="04020905020B06060204" pitchFamily="82" charset="0"/>
              </a:rPr>
              <a:t>Live Demo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439350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E625FC9F-3055-A362-30D9-59C5E6B8C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0278648F-0175-AE2F-FC43-4A5B8EA0A5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Conclusion</a:t>
            </a:r>
            <a:endParaRPr dirty="0">
              <a:latin typeface="Montserrat" panose="00000500000000000000" pitchFamily="2" charset="-5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45FB74-ABD4-C734-1CF6-E3A5532E09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2788" y="1689895"/>
            <a:ext cx="8113497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Conclusions:</a:t>
            </a:r>
            <a:br>
              <a:rPr lang="en-US" sz="1400" dirty="0"/>
            </a:br>
            <a:r>
              <a:rPr lang="en-US" sz="1400" dirty="0"/>
              <a:t>Implemented a forecast disaggregation module that converts an aggregated forecast into the target time granularity (DAY / WEEK.2).</a:t>
            </a:r>
            <a:br>
              <a:rPr lang="en-US" sz="1400" dirty="0"/>
            </a:br>
            <a:r>
              <a:rPr lang="en-US" sz="1400" dirty="0"/>
              <a:t>Ensured correct allocation of values across days/weeks while preserving the total volume for each PRODUCT_ID–LOCATION_ID–… combination.</a:t>
            </a:r>
            <a:br>
              <a:rPr lang="en-US" sz="1400" dirty="0"/>
            </a:br>
            <a:r>
              <a:rPr lang="en-US" sz="1400" dirty="0"/>
              <a:t>Validated the module on synthetic data and built “before/after” visualizations demonstrating the correctness of the disaggregation.</a:t>
            </a:r>
          </a:p>
          <a:p>
            <a:r>
              <a:rPr lang="en-US" sz="1400" b="1" dirty="0"/>
              <a:t>How to improve the result:</a:t>
            </a:r>
            <a:br>
              <a:rPr lang="en-US" sz="1400" dirty="0"/>
            </a:br>
            <a:r>
              <a:rPr lang="en-US" sz="1400" dirty="0"/>
              <a:t>Add support for other time levels (e.g., 10-day periods, client financial weeks) and more flexible allocation logic (not only uniform by days, but also demand-weighted).</a:t>
            </a:r>
          </a:p>
        </p:txBody>
      </p:sp>
    </p:spTree>
    <p:extLst>
      <p:ext uri="{BB962C8B-B14F-4D97-AF65-F5344CB8AC3E}">
        <p14:creationId xmlns:p14="http://schemas.microsoft.com/office/powerpoint/2010/main" val="3006699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>
          <a:extLst>
            <a:ext uri="{FF2B5EF4-FFF2-40B4-BE49-F238E27FC236}">
              <a16:creationId xmlns:a16="http://schemas.microsoft.com/office/drawing/2014/main" id="{8DE60DD3-BCED-F1C9-30D9-C9AE5B9F9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31B6D0D-453A-1529-A784-EA11EBBD25BA}"/>
              </a:ext>
            </a:extLst>
          </p:cNvPr>
          <p:cNvSpPr txBox="1"/>
          <p:nvPr/>
        </p:nvSpPr>
        <p:spPr>
          <a:xfrm>
            <a:off x="1123835" y="1802308"/>
            <a:ext cx="689633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latin typeface="AlphabetSoup Tilt BT" panose="04020905020B06060204" pitchFamily="82" charset="0"/>
              </a:rPr>
              <a:t>L</a:t>
            </a:r>
            <a:r>
              <a:rPr lang="en" sz="5400" dirty="0">
                <a:latin typeface="AlphabetSoup Tilt BT" panose="04020905020B06060204" pitchFamily="82" charset="0"/>
              </a:rPr>
              <a:t>ink to github:</a:t>
            </a:r>
          </a:p>
          <a:p>
            <a:r>
              <a:rPr lang="en-US" sz="2000" dirty="0">
                <a:latin typeface="Andalus" panose="02020603050405020304" pitchFamily="18" charset="-78"/>
                <a:cs typeface="Andalus" panose="02020603050405020304" pitchFamily="18" charset="-78"/>
              </a:rPr>
              <a:t>https://github.com/aromanenko/DFP/tree/Shub_Sergey_dqcheak%2Bdisaccumulation</a:t>
            </a:r>
          </a:p>
        </p:txBody>
      </p:sp>
    </p:spTree>
    <p:extLst>
      <p:ext uri="{BB962C8B-B14F-4D97-AF65-F5344CB8AC3E}">
        <p14:creationId xmlns:p14="http://schemas.microsoft.com/office/powerpoint/2010/main" val="1649399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908</Words>
  <Application>Microsoft Office PowerPoint</Application>
  <PresentationFormat>Экран (16:9)</PresentationFormat>
  <Paragraphs>56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2" baseType="lpstr">
      <vt:lpstr>Merriweather Light</vt:lpstr>
      <vt:lpstr>Crimson Text</vt:lpstr>
      <vt:lpstr>Vidaloka</vt:lpstr>
      <vt:lpstr>Montserrat</vt:lpstr>
      <vt:lpstr>Lato</vt:lpstr>
      <vt:lpstr>AlphabetSoup Tilt BT</vt:lpstr>
      <vt:lpstr>Arial</vt:lpstr>
      <vt:lpstr>Andalus</vt:lpstr>
      <vt:lpstr>Minimalist Business Slides XL by Slidesgo</vt:lpstr>
      <vt:lpstr>Development of an end-to-end demand forecasting pipeline for retail</vt:lpstr>
      <vt:lpstr>end-to-end demand forecasting process</vt:lpstr>
      <vt:lpstr>Input data for the step</vt:lpstr>
      <vt:lpstr>Output data for the step</vt:lpstr>
      <vt:lpstr>Презентация PowerPoint</vt:lpstr>
      <vt:lpstr>Conclusion</vt:lpstr>
      <vt:lpstr>Development of an end-to-end demand forecasting pipeline for retail</vt:lpstr>
      <vt:lpstr>end-to-end demand forecasting process</vt:lpstr>
      <vt:lpstr>Input data for the step</vt:lpstr>
      <vt:lpstr>Output data for the step</vt:lpstr>
      <vt:lpstr>Презентация PowerPoint</vt:lpstr>
      <vt:lpstr>Conclusion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serezha shub</cp:lastModifiedBy>
  <cp:revision>3</cp:revision>
  <dcterms:modified xsi:type="dcterms:W3CDTF">2025-12-16T12:36:10Z</dcterms:modified>
</cp:coreProperties>
</file>